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CF222E"/>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F222E"/>
              </a:solidFill>
              <a:effectLst/>
            </c:spPr>
          </c:dPt>
          <c:dPt>
            <c:idx val="1"/>
            <c:invertIfNegative val="0"/>
            <c:bubble3D val="0"/>
            <c:spPr>
              <a:solidFill>
                <a:srgbClr val="1A7F37"/>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6E7781"/>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6E7781"/>
              </a:solidFill>
              <a:effectLst/>
            </c:spPr>
          </c:dPt>
          <c:dPt>
            <c:idx val="1"/>
            <c:invertIfNegative val="0"/>
            <c:bubble3D val="0"/>
            <c:spPr>
              <a:solidFill>
                <a:srgbClr val="6E7781"/>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software that lets someone control a computer by typing plain English instead of memorized commands. Right now, we've built and tested the core safety technology behind it, and we already have a working prototype people can try. What's ahead is finishing the full interface, clearing ethics review, and running a study comparing it against the computer people already use. Today we're presenting that plan for your approval — not final results, since that comparison study hasn't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on a computer, but only if you know the exact words to type. A graphical interface is easier, but it only lets you do what its creator thought to build in — nothing more.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problem we're solving — please read the statement on screen. In plain terms: a computer can do almost anything, but only people who already know the command line, or a particular app's menus, can actually reach that power. Everyone else is stuck with less than the machine can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are the four questions guiding this research. We reordered them after an earlier review, when our adviser asked whether anything would survive if we removed the chat interface entirely — so the safety algorithm now leads as its own question, and the other three, about the interface itself, come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simply the four-step flow behind a system like this: understand what you asked, decide what to do, act on the computer, then fit into your existing desktop. SynapseOS follows this same flow, and the safety check we'll show next happens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on this laptop — a demo folder in our Documents called SynapseOS-Demo, which we can open and show you directly if you'd like. Plain English in, a real command and a real answer out, each time: listing the folder, renaming a file, counting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itself running, not the friendly chat interface you just saw — a debugging tool we built called effexplain. Give it a command, and it shows exactly how it reasons: it sees through the find-exec wrapper, works out the real files it would touch, and labels the result recoverable, with a plan to capture those files first. This is what's actually happening underneath the conversation from a moment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delete something important before you even notice. Today's safety checks only look at whether a command looks familiar, not at what it actually does — so you either let unfamiliar commands through and risk damage, or block everything and get interrupted constantly. Our algorithm lives in real code, not a formula — in our repository, under internal/effects — and it actually reads what a command would do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It sees through tricks that hide what a command really does, like chaining several commands together. And when it can't know a command's target in advance, it does a safe test run first to find out. Anything it doesn't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has two separate parts: the safety algorithm, and the chat interface. We test the algorithm against hundreds of sample commands, with no human volunteers needed at all. We test the interface with 40 real users, comparing it to the computer they already use — once that study is cleared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silently destroys data the user never agreed to lose. The method most tools use today — a list of known-dangerous commands — fails over 40 percent of the time. Our algorithm brings that down to essentially zero, matching the safest possible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actually recovers data after something is deleted. Being safe isn't enough by itself — a system that blocks everything is 'safe' too, but saves nothing. Our algorithm recovers the lost data about 9 times out of 10; the overly-cautious approach recovers none of it, because it never tries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how we'll test the interface with real people: comparing SynapseOS against whatever computer and operating system each person already uses every day. We're recruiting two kinds of users on purpose — people who struggle with both existing options, and people fluent in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Fair — we are managing a research algorithm and an entirely new interface at the same time. Period. Our answer: the algorithm and getting the interface running are non-negotiable; fine-tuning the model and the full user study are real plans, but the first things we'd trim if time runs short. Our adviser also advised renting a cloud machine for testing instead of buying new hardware, which keeps our costs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actually stand. The algorithm is essentially done — round seven is our reported result. The interface build is underway. Testing used to be a real bottleneck, since destructive testing needs a disposable machine we're willing to break — but thanks to our adviser's advice, we're renting a cloud machine instead of buying new hardware, so that's solved, not blocking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adviser raised this question in an earlier review, and we address it directly here. Please read the statement above. At present, our answer is qualitative, not quantitative: we argue that the algorithm's contribution lies in what it adds beyond its underlying lookup table. Measuring this precisely is part of our planned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soon as this project succeeds, it delivers two separate results: a safer, more useful way to catch dangerous commands, and the first real evidence on whether talking to a computer actually helps people who struggle with existing interfaces. Each result stands on its own, even if the other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here's what happens next: we set up our rented testing machine,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consideration today. We're glad to take any questions you have about the plan, the algorithm, or anything else we've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bound to what its creator thought to include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005840" y="2286000"/>
            <a:ext cx="10149840" cy="2011680"/>
          </a:xfrm>
          <a:prstGeom prst="roundRect">
            <a:avLst>
              <a:gd name="adj" fmla="val 4545"/>
            </a:avLst>
          </a:prstGeom>
          <a:solidFill>
            <a:srgbClr val="FFFFFF"/>
          </a:solidFill>
          <a:ln w="12700">
            <a:solidFill>
              <a:srgbClr val="1A7F37"/>
            </a:solidFill>
            <a:prstDash val="solid"/>
          </a:ln>
        </p:spPr>
      </p:sp>
      <p:sp>
        <p:nvSpPr>
          <p:cNvPr id="4" name="Text 2"/>
          <p:cNvSpPr txBox="1"/>
          <p:nvPr/>
        </p:nvSpPr>
        <p:spPr>
          <a:xfrm>
            <a:off x="1371600" y="2286000"/>
            <a:ext cx="9418320" cy="2011680"/>
          </a:xfrm>
          <a:prstGeom prst="rect">
            <a:avLst/>
          </a:prstGeom>
          <a:noFill/>
          <a:ln/>
        </p:spPr>
        <p:txBody>
          <a:bodyPr wrap="square" lIns="0" tIns="0" rIns="0" bIns="0" rtlCol="0" anchor="ctr"/>
          <a:lstStyle/>
          <a:p>
            <a:pPr algn="l" indent="0" marL="0">
              <a:buNone/>
            </a:pPr>
            <a:r>
              <a:rPr lang="en-US" sz="2300" i="1" dirty="0">
                <a:solidFill>
                  <a:schemeClr val="bg1"/>
                </a:solidFill>
                <a:latin typeface="Calibri" pitchFamily="34" charset="0"/>
                <a:ea typeface="Calibri" pitchFamily="34" charset="-122"/>
                <a:cs typeface="Calibri" pitchFamily="34" charset="-120"/>
              </a:rPr>
              <a:t>Not everyone can get a computer to do what it's capable of — it depends on which interface you already know.</a:t>
            </a:r>
            <a:endParaRPr lang="en-US" sz="23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Can we predict a command's effects before it runs — and undo it — better than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How do we let someone direct a whole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What confirmation and recovery design lets someone undo a mistake, even one they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Does this close the fluency gap between people fluent in neither the command line nor a GUI?</a:t>
            </a:r>
            <a:endParaRPr lang="en-US" sz="1900" dirty="0"/>
          </a:p>
        </p:txBody>
      </p:sp>
      <p:sp>
        <p:nvSpPr>
          <p:cNvPr id="4" name="Shape 2"/>
          <p:cNvSpPr/>
          <p:nvPr/>
        </p:nvSpPr>
        <p:spPr>
          <a:xfrm>
            <a:off x="548640" y="5715000"/>
            <a:ext cx="11064240" cy="685800"/>
          </a:xfrm>
          <a:prstGeom prst="roundRect">
            <a:avLst>
              <a:gd name="adj" fmla="val 8000"/>
            </a:avLst>
          </a:prstGeom>
          <a:solidFill>
            <a:srgbClr val="FFFFFF"/>
          </a:solidFill>
          <a:ln w="12700">
            <a:solidFill>
              <a:srgbClr val="D0D7DE"/>
            </a:solidFill>
            <a:prstDash val="solid"/>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FFFFFF"/>
          </a:solidFill>
          <a:ln w="19050">
            <a:solidFill>
              <a:srgbClr val="0969DA"/>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0969DA"/>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FFFFFF"/>
          </a:solidFill>
          <a:ln w="19050">
            <a:solidFill>
              <a:srgbClr val="1A7F37"/>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1A7F37"/>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FFFFFF"/>
          </a:solidFill>
          <a:ln w="19050">
            <a:solidFill>
              <a:srgbClr val="9A67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9A67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FFFFFF"/>
          </a:solidFill>
          <a:ln w="19050">
            <a:solidFill>
              <a:srgbClr val="CF222E"/>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CF222E"/>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The Algorithm Sees</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Not the chat interface — a tool we built for the algorithm itself, reasoning about a real command:</a:t>
            </a:r>
            <a:endParaRPr lang="en-US" sz="1800" dirty="0"/>
          </a:p>
        </p:txBody>
      </p:sp>
      <p:pic>
        <p:nvPicPr>
          <p:cNvPr id="4" name="Image 0" descr="media/algorithm-trace.png">    </p:cNvPr>
          <p:cNvPicPr>
            <a:picLocks noChangeAspect="1"/>
          </p:cNvPicPr>
          <p:nvPr/>
        </p:nvPicPr>
        <p:blipFill>
          <a:blip r:embed="rId1"/>
          <a:stretch>
            <a:fillRect/>
          </a:stretch>
        </p:blipFill>
        <p:spPr>
          <a:xfrm>
            <a:off x="1234440" y="2103120"/>
            <a:ext cx="9692640" cy="1353312"/>
          </a:xfrm>
          <a:prstGeom prst="rect">
            <a:avLst/>
          </a:prstGeom>
        </p:spPr>
      </p:pic>
      <p:sp>
        <p:nvSpPr>
          <p:cNvPr id="5" name="Text 2"/>
          <p:cNvSpPr txBox="1"/>
          <p:nvPr/>
        </p:nvSpPr>
        <p:spPr>
          <a:xfrm>
            <a:off x="548640" y="3749040"/>
            <a:ext cx="11064240" cy="54864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Sees through find -exec </a:t>
            </a:r>
            <a:pPr indent="0" marL="0">
              <a:buNone/>
            </a:pPr>
            <a:r>
              <a:rPr lang="en-US" sz="1600" dirty="0">
                <a:solidFill>
                  <a:schemeClr val="bg1"/>
                </a:solidFill>
                <a:latin typeface="Calibri" pitchFamily="34" charset="0"/>
                <a:ea typeface="Calibri" pitchFamily="34" charset="-122"/>
                <a:cs typeface="Calibri" pitchFamily="34" charset="-120"/>
              </a:rPr>
              <a:t>→ resolves the real files it would touch → labels it recoverable, with a capture plan.</a:t>
            </a:r>
            <a:endParaRPr lang="en-US" sz="16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4" name="Text 2"/>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400" i="1" dirty="0">
                <a:solidFill>
                  <a:schemeClr val="bg2"/>
                </a:solidFill>
                <a:latin typeface="Calibri" pitchFamily="34" charset="0"/>
                <a:ea typeface="Calibri" pitchFamily="34" charset="-122"/>
                <a:cs typeface="Calibri" pitchFamily="34" charset="-120"/>
              </a:rPr>
              <a:t>The algorithm itself is real code in our repository, not a formula on paper — prototype/internal/effects.</a:t>
            </a:r>
            <a:endParaRPr lang="en-US" sz="14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FFFFFF"/>
          </a:solidFill>
          <a:ln w="15240">
            <a:solidFill>
              <a:srgbClr val="1A7F37"/>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FFFFFF"/>
          </a:solidFill>
          <a:ln w="15240">
            <a:solidFill>
              <a:srgbClr val="1A7F37"/>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FFFFFF"/>
          </a:solidFill>
          <a:ln w="12700">
            <a:solidFill>
              <a:srgbClr val="9A67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514600" y="3977640"/>
            <a:ext cx="7132320" cy="2093976"/>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FFFFFF"/>
          </a:solidFill>
          <a:ln w="15240">
            <a:solidFill>
              <a:srgbClr val="1A7F37"/>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1A7F37"/>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FFFFFF"/>
          </a:solidFill>
          <a:ln w="15240">
            <a:solidFill>
              <a:srgbClr val="0969DA"/>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0969DA"/>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Awaiting clearance to begin</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FFFFFF"/>
          </a:solidFill>
          <a:ln w="15240">
            <a:solidFill>
              <a:srgbClr val="9A67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interface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We are managing a research algorithm and an entirely new interface at the same time. Period.</a:t>
            </a:r>
            <a:endParaRPr lang="en-US" sz="1800" dirty="0"/>
          </a:p>
        </p:txBody>
      </p:sp>
      <p:sp>
        <p:nvSpPr>
          <p:cNvPr id="6" name="Shape 4"/>
          <p:cNvSpPr/>
          <p:nvPr/>
        </p:nvSpPr>
        <p:spPr>
          <a:xfrm>
            <a:off x="548640" y="4572000"/>
            <a:ext cx="11064240" cy="914400"/>
          </a:xfrm>
          <a:prstGeom prst="roundRect">
            <a:avLst>
              <a:gd name="adj" fmla="val 8000"/>
            </a:avLst>
          </a:prstGeom>
          <a:solidFill>
            <a:srgbClr val="FFFFFF"/>
          </a:solidFill>
          <a:ln w="12700">
            <a:solidFill>
              <a:srgbClr val="1A7F37"/>
            </a:solidFill>
            <a:prstDash val="solid"/>
          </a:ln>
        </p:spPr>
      </p:sp>
      <p:sp>
        <p:nvSpPr>
          <p:cNvPr id="7" name="Text 5"/>
          <p:cNvSpPr txBox="1"/>
          <p:nvPr/>
        </p:nvSpPr>
        <p:spPr>
          <a:xfrm>
            <a:off x="868680" y="4572000"/>
            <a:ext cx="10424160" cy="914400"/>
          </a:xfrm>
          <a:prstGeom prst="rect">
            <a:avLst/>
          </a:prstGeom>
          <a:noFill/>
          <a:ln/>
        </p:spPr>
        <p:txBody>
          <a:bodyPr wrap="square" lIns="0" tIns="0" rIns="0" bIns="0" rtlCol="0" anchor="ctr"/>
          <a:lstStyle/>
          <a:p>
            <a:pPr indent="0" marL="0">
              <a:buNone/>
            </a:pPr>
            <a:r>
              <a:rPr lang="en-US" sz="1700" b="1" dirty="0">
                <a:solidFill>
                  <a:schemeClr val="accent1"/>
                </a:solidFill>
                <a:latin typeface="Calibri" pitchFamily="34" charset="0"/>
                <a:ea typeface="Calibri" pitchFamily="34" charset="-122"/>
                <a:cs typeface="Calibri" pitchFamily="34" charset="-120"/>
              </a:rPr>
              <a:t>Also advised: </a:t>
            </a:r>
            <a:pPr indent="0" marL="0">
              <a:buNone/>
            </a:pPr>
            <a:r>
              <a:rPr lang="en-US" sz="1700" dirty="0">
                <a:solidFill>
                  <a:schemeClr val="bg1"/>
                </a:solidFill>
                <a:latin typeface="Calibri" pitchFamily="34" charset="0"/>
                <a:ea typeface="Calibri" pitchFamily="34" charset="-122"/>
                <a:cs typeface="Calibri" pitchFamily="34" charset="-120"/>
              </a:rPr>
              <a:t>rent a cloud testing machine instead of buying new hardware — keeps costs down.</a:t>
            </a:r>
            <a:endParaRPr lang="en-US" sz="17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FFFFFF"/>
          </a:solidFill>
          <a:ln w="12700">
            <a:solidFill>
              <a:srgbClr val="D0D7DE"/>
            </a:solidFill>
            <a:prstDash val="solid"/>
          </a:ln>
        </p:spPr>
      </p:sp>
      <p:sp>
        <p:nvSpPr>
          <p:cNvPr id="4" name="Shape 2"/>
          <p:cNvSpPr/>
          <p:nvPr/>
        </p:nvSpPr>
        <p:spPr>
          <a:xfrm>
            <a:off x="868680" y="2231136"/>
            <a:ext cx="237744" cy="237744"/>
          </a:xfrm>
          <a:prstGeom prst="ellipse">
            <a:avLst/>
          </a:prstGeom>
          <a:solidFill>
            <a:srgbClr val="1A7F37"/>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FFFFFF"/>
          </a:solidFill>
          <a:ln w="12700">
            <a:solidFill>
              <a:srgbClr val="D0D7DE"/>
            </a:solidFill>
            <a:prstDash val="solid"/>
          </a:ln>
        </p:spPr>
      </p:sp>
      <p:sp>
        <p:nvSpPr>
          <p:cNvPr id="8" name="Shape 6"/>
          <p:cNvSpPr/>
          <p:nvPr/>
        </p:nvSpPr>
        <p:spPr>
          <a:xfrm>
            <a:off x="868680" y="3602736"/>
            <a:ext cx="237744" cy="237744"/>
          </a:xfrm>
          <a:prstGeom prst="ellipse">
            <a:avLst/>
          </a:prstGeom>
          <a:solidFill>
            <a:srgbClr val="9A67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Interface build</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FFFFFF"/>
          </a:solidFill>
          <a:ln w="12700">
            <a:solidFill>
              <a:srgbClr val="D0D7DE"/>
            </a:solidFill>
            <a:prstDash val="solid"/>
          </a:ln>
        </p:spPr>
      </p:sp>
      <p:sp>
        <p:nvSpPr>
          <p:cNvPr id="12" name="Shape 10"/>
          <p:cNvSpPr/>
          <p:nvPr/>
        </p:nvSpPr>
        <p:spPr>
          <a:xfrm>
            <a:off x="868680" y="4974336"/>
            <a:ext cx="237744" cy="237744"/>
          </a:xfrm>
          <a:prstGeom prst="ellipse">
            <a:avLst/>
          </a:prstGeom>
          <a:solidFill>
            <a:srgbClr val="1A7F37"/>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Testing machine</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Solved — renting a cloud VM instead of buying hardware</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FFFFFF"/>
          </a:solidFill>
          <a:ln w="16510">
            <a:solidFill>
              <a:srgbClr val="9A67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FFFFFF"/>
          </a:solidFill>
          <a:ln w="12700">
            <a:solidFill>
              <a:srgbClr val="D0D7DE"/>
            </a:solidFill>
            <a:prstDash val="solid"/>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1A7F37"/>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FFFFFF"/>
          </a:solidFill>
          <a:ln w="12700">
            <a:solidFill>
              <a:srgbClr val="D0D7DE"/>
            </a:solidFill>
            <a:prstDash val="solid"/>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0969DA"/>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FFFFFF"/>
          </a:solidFill>
          <a:ln w="12700">
            <a:solidFill>
              <a:srgbClr val="D0D7DE"/>
            </a:solidFill>
            <a:prstDash val="solid"/>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9A67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Spin up the rented testing machine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Thank You</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SynapseOS — Thesis 1 Proposal Defense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
</a:t>
            </a:r>
            <a:endParaRPr lang="en-US" sz="2200" dirty="0"/>
          </a:p>
          <a:p>
            <a:pPr algn="l" indent="0" marL="0">
              <a:buNone/>
            </a:pPr>
            <a:r>
              <a:rPr lang="en-US" sz="2000" dirty="0">
                <a:solidFill>
                  <a:schemeClr val="bg1"/>
                </a:solidFill>
                <a:latin typeface="Calibri" pitchFamily="34" charset="0"/>
                <a:ea typeface="Calibri" pitchFamily="34" charset="-122"/>
                <a:cs typeface="Calibri" pitchFamily="34" charset="-120"/>
              </a:rPr>
              <a:t>We welcome your questions.</a:t>
            </a:r>
            <a:endParaRPr lang="en-US" sz="2200" dirty="0"/>
          </a:p>
        </p:txBody>
      </p:sp>
    </p:spTree>
  </p:cSld>
  <p:clrMapOvr>
    <a:masterClrMapping/>
  </p:clrMapOvr>
</p:sld>
</file>

<file path=ppt/theme/theme1.xml><?xml version="1.0" encoding="utf-8"?>
<a:theme xmlns:a="http://schemas.openxmlformats.org/drawingml/2006/main" name="SynapseOS Light">
  <a:themeElements>
    <a:clrScheme name="SynapseOS Light">
      <a:dk1>
        <a:srgbClr val="F6F8FA"/>
      </a:dk1>
      <a:lt1>
        <a:srgbClr val="1A1F26"/>
      </a:lt1>
      <a:dk2>
        <a:srgbClr val="FFFFFF"/>
      </a:dk2>
      <a:lt2>
        <a:srgbClr val="57606A"/>
      </a:lt2>
      <a:accent1>
        <a:srgbClr val="1A7F37"/>
      </a:accent1>
      <a:accent2>
        <a:srgbClr val="9A6700"/>
      </a:accent2>
      <a:accent3>
        <a:srgbClr val="0969DA"/>
      </a:accent3>
      <a:accent4>
        <a:srgbClr val="CF222E"/>
      </a:accent4>
      <a:accent5>
        <a:srgbClr val="57606A"/>
      </a:accent5>
      <a:accent6>
        <a:srgbClr val="1A1F26"/>
      </a:accent6>
      <a:hlink>
        <a:srgbClr val="0969DA"/>
      </a:hlink>
      <a:folHlink>
        <a:srgbClr val="57606A"/>
      </a:folHlink>
    </a:clrScheme>
    <a:fontScheme name="SynapseOS Light">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2026-10-08T05:05:26Z</dcterms:created>
  <dcterms:modified xsi:type="dcterms:W3CDTF">2026-10-08T05:05:26Z</dcterms:modified>
</cp:coreProperties>
</file>