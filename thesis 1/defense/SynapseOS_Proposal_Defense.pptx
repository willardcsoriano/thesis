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A1F26"/>
                </a:solidFill>
                <a:latin typeface="+mn-lt"/>
              </a:defRPr>
            </a:pPr>
            <a:r>
              <a:rPr sz="1500" b="0" i="0" u="none" strike="noStrike">
                <a:solidFill>
                  <a:srgbClr val="1A1F26"/>
                </a:solidFill>
                <a:latin typeface="+mn-lt"/>
              </a:rPr>
              <a:t>Lower is better — held-out corpus, 777 commands (round 7)</a:t>
            </a:r>
          </a:p>
        </c:rich>
      </c:tx>
      <c:layout/>
      <c:overlay val="0"/>
    </c:title>
    <c:autoTitleDeleted val="0"/>
    <c:plotArea>
      <c:layout/>
      <c:barChart>
        <c:barDir val="col"/>
        <c:grouping val="clustered"/>
        <c:varyColors val="0"/>
        <c:ser>
          <c:idx val="0"/>
          <c:order val="0"/>
          <c:tx>
            <c:strRef>
              <c:f>Sheet1!$B$1</c:f>
              <c:strCache>
                <c:ptCount val="1"/>
                <c:pt idx="0">
                  <c:v>Silent data loss (%)</c:v>
                </c:pt>
              </c:strCache>
            </c:strRef>
          </c:tx>
          <c:spPr>
            <a:solidFill>
              <a:srgbClr val="CF222E"/>
            </a:solidFill>
            <a:effectLst/>
          </c:spPr>
          <c:invertIfNegative val="0"/>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CF222E"/>
              </a:solidFill>
              <a:effectLst/>
            </c:spPr>
          </c:dPt>
          <c:dPt>
            <c:idx val="1"/>
            <c:invertIfNegative val="0"/>
            <c:bubble3D val="0"/>
            <c:spPr>
              <a:solidFill>
                <a:srgbClr val="1A7F37"/>
              </a:solidFill>
              <a:effectLst/>
            </c:spPr>
          </c:dPt>
          <c:dPt>
            <c:idx val="2"/>
            <c:invertIfNegative val="0"/>
            <c:bubble3D val="0"/>
            <c:spPr>
              <a:solidFill>
                <a:srgbClr val="1A7F37"/>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41.2</c:v>
                </c:pt>
                <c:pt idx="1">
                  <c:v>0</c:v>
                </c:pt>
                <c:pt idx="2">
                  <c:v>0</c:v>
                </c:pt>
              </c:numCache>
            </c:numRef>
          </c:val>
        </c:ser>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12700" cap="flat">
              <a:solidFill>
                <a:srgbClr val="D0D7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A1F26"/>
                </a:solidFill>
                <a:latin typeface="+mn-lt"/>
              </a:defRPr>
            </a:pPr>
            <a:r>
              <a:rPr sz="1500" b="0" i="0" u="none" strike="noStrike">
                <a:solidFill>
                  <a:srgbClr val="1A1F26"/>
                </a:solidFill>
                <a:latin typeface="+mn-lt"/>
              </a:rPr>
              <a:t>Higher is better — of the 325 executable losses</a:t>
            </a:r>
          </a:p>
        </c:rich>
      </c:tx>
      <c:layout/>
      <c:overlay val="0"/>
    </c:title>
    <c:autoTitleDeleted val="0"/>
    <c:plotArea>
      <c:layout/>
      <c:barChart>
        <c:barDir val="col"/>
        <c:grouping val="clustered"/>
        <c:varyColors val="0"/>
        <c:ser>
          <c:idx val="0"/>
          <c:order val="0"/>
          <c:tx>
            <c:strRef>
              <c:f>Sheet1!$B$1</c:f>
              <c:strCache>
                <c:ptCount val="1"/>
                <c:pt idx="0">
                  <c:v>Restoration coverage (%)</c:v>
                </c:pt>
              </c:strCache>
            </c:strRef>
          </c:tx>
          <c:spPr>
            <a:solidFill>
              <a:srgbClr val="6E7781"/>
            </a:solidFill>
            <a:effectLst/>
          </c:spPr>
          <c:invertIfNegative val="0"/>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6E7781"/>
              </a:solidFill>
              <a:effectLst/>
            </c:spPr>
          </c:dPt>
          <c:dPt>
            <c:idx val="1"/>
            <c:invertIfNegative val="0"/>
            <c:bubble3D val="0"/>
            <c:spPr>
              <a:solidFill>
                <a:srgbClr val="6E7781"/>
              </a:solidFill>
              <a:effectLst/>
            </c:spPr>
          </c:dPt>
          <c:dPt>
            <c:idx val="2"/>
            <c:invertIfNegative val="0"/>
            <c:bubble3D val="0"/>
            <c:spPr>
              <a:solidFill>
                <a:srgbClr val="1A7F37"/>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41.5</c:v>
                </c:pt>
                <c:pt idx="1">
                  <c:v>0</c:v>
                </c:pt>
                <c:pt idx="2">
                  <c:v>89.5</c:v>
                </c:pt>
              </c:numCache>
            </c:numRef>
          </c:val>
        </c:ser>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12700" cap="flat">
              <a:solidFill>
                <a:srgbClr val="D0D7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We're presenting our Thesis 1 proposal for SynapseOS, software that lets someone control a computer by typing plain English instead of memorized commands. Right now, we've built and tested the core safety technology behind it, and we already have a working prototype people can try. What's ahead is finishing the full interface, clearing ethics review, and running a study comparing it against the computer people already use. Today we're presenting that plan for your approval — not final results, since that comparison study hasn't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line can do almost anything on a computer, but only if you know the exact words to type. A graphical interface is easier, but it only lets you do what its creator thought to build in — nothing more. Nobody has yet built and tested a system that lets you control a whole desktop just by talking to it normally — that's the gap we're filling.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core problem we're solving — please read the statement on screen. In plain terms: a computer can do almost anything, but only people who already know the command line, or a particular app's menus, can actually reach that power. Everyone else is stuck with less than the machine can really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are the four questions guiding this research. We reordered them after an earlier review, when our adviser asked whether anything would survive if we removed the chat interface entirely — so the safety algorithm now leads as its own question, and the other three, about the interface itself, come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is simply the four-step flow behind a system like this: understand what you asked, decide what to do, act on the computer, then fit into your existing desktop. SynapseOS follows this same flow, and the safety check we'll show next happens right before anything actually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recording, three requests in a row, on this laptop — a demo folder in our Documents called SynapseOS-Demo, which we can open and show you directly if you'd like. Plain English in, a real command and a real answer out, each time: listing the folder, renaming a file, counting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algorithm itself running, not the friendly chat interface you just saw — a debugging tool we built called effexplain. Give it a command, and it shows exactly how it reasons: it sees through the find-exec wrapper, works out the real files it would touch, and labels the result recoverable, with a plan to capture those files first. This is what's actually happening underneath the conversation from a moment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AI types commands for you, it might delete something important before you even notice. Today's safety checks only look at whether a command looks familiar, not at what it actually does — so you either let unfamiliar commands through and risk damage, or block everything and get interrupted constantly. Our algorithm lives in real code, not a formula — in our repository, under internal/effects — and it actually reads what a command would do before deciding.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algorithm does two things. It sees through tricks that hide what a command really does, like chaining several commands together. And when it can't know a command's target in advance, it does a safe test run first to find out. Anything it doesn't understand, it simply stops and asks — it never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research has two separate parts: the safety algorithm, and the chat interface. We test the algorithm against hundreds of sample commands, with no human volunteers needed at all. We test the interface with 40 real users, comparing it to the computer they already use — once that study is cleared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often each approach silently destroys data the user never agreed to lose. The method most tools use today — a list of known-dangerous commands — fails over 40 percent of the time. Our algorithm brings that down to essentially zero, matching the safest possible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often each approach actually recovers data after something is deleted. Being safe isn't enough by itself — a system that blocks everything is 'safe' too, but saves nothing. Our algorithm recovers the lost data about 9 times out of 10; the overly-cautious approach recovers none of it, because it never tries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is how we'll test the interface with real people: comparing SynapseOS against whatever computer and operating system each person already uses every day. We're recruiting two kinds of users on purpose — people who struggle with both existing options, and people fluent in both — because the gap between those two groups is what we actually care about measuring.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on screen is our adviser's own feedback, word for word: manage your scope carefully. Fair — we are managing a research algorithm and an entirely new interface at the same time. Period. Our answer: the algorithm and getting the interface running are non-negotiable; fine-tuning the model and the full user study are real plans, but the first things we'd trim if time runs short. Our adviser also advised renting a cloud machine for testing instead of buying new hardware, which keeps our costs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 actually stand. The algorithm is essentially done — round seven is our reported result. The interface build is underway. Testing used to be a real bottleneck, since destructive testing needs a disposable machine we're willing to break — but thanks to our adviser's advice, we're renting a cloud machine instead of buying new hardware, so that's solved, not blocking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adviser already raised this question in an earlier review, so we are presenting it ourselves. Please read the statement above. Our current answer is a prose argument, not a number: the rule table underneath the algorithm is itself a list, and what we claim credit for is what the algorithm builds on top of it. We have a concrete plan to turn this into a measured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soon as this project succeeds, it delivers two separate results: a safer, more useful way to catch dangerous commands, and the first real evidence on whether talking to a computer actually helps people who struggle with existing interfaces. Each result stands on its own, even if the other is delayed.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this proposal is approved, here's what happens next: we set up our rented testing machine, finish building the interface, and run the full study with real participants. The next time we present, we'll be showing actual results instead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and consideration today. We're glad to take any questions you have about the plan, the algorithm, or anything else we've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6F8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lstStyle>
            <a:lvl1pPr algn="l" indent="0" marL="0">
              <a:buNone/>
              <a:defRPr lang="en-US" sz="4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lstStyle>
            <a:lvl1pPr algn="l" indent="0" marL="0">
              <a:buNone/>
              <a:defRPr lang="en-US" sz="2200" dirty="0">
                <a:solidFill>
                  <a:schemeClr val="bg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8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lstStyle>
            <a:lvl1pPr algn="l" indent="0" marL="0">
              <a:buNone/>
              <a:defRPr lang="en-US" sz="1900" dirty="0">
                <a:solidFill>
                  <a:schemeClr val="bg1"/>
                </a:solidFill>
                <a:latin typeface="Calibri" pitchFamily="34" charset="0"/>
                <a:ea typeface="Calibri" pitchFamily="34" charset="-122"/>
                <a:cs typeface="Calibri" pitchFamily="34" charset="-120"/>
              </a:defRPr>
            </a:lvl1pPr>
          </a:lstStyle>
          <a:p>
            <a:pPr algn="l" indent="0" marL="0">
              <a:buNone/>
            </a:pPr>
            <a:endParaRPr lang="en-US" sz="1900" dirty="0"/>
          </a:p>
        </p:txBody>
      </p:sp>
      <p:sp>
        <p:nvSpPr>
          <p:cNvPr id="4"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RT">
    <p:bg>
      <p:bgPr>
        <a:solidFill>
          <a:srgbClr val="F6F8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SynapseOS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Designing a Conversational Interface Layer for Personal Computing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Thesis 1 Proposal Defense — Chapters 1–3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Gap</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Command line — full capability, syntax barrier</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Graphical desktop — bound to what its creator thought to include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LLMs reopen the thread (Berkeley UNIX Consultant, 1988) with far greater capability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Missing: an implemented, evaluated system for the whole desktop session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Problem Statement</a:t>
            </a:r>
            <a:endParaRPr lang="en-US" sz="3400" dirty="0"/>
          </a:p>
        </p:txBody>
      </p:sp>
      <p:sp>
        <p:nvSpPr>
          <p:cNvPr id="3" name="Shape 1"/>
          <p:cNvSpPr/>
          <p:nvPr/>
        </p:nvSpPr>
        <p:spPr>
          <a:xfrm>
            <a:off x="1005840" y="2286000"/>
            <a:ext cx="10149840" cy="2011680"/>
          </a:xfrm>
          <a:prstGeom prst="roundRect">
            <a:avLst>
              <a:gd name="adj" fmla="val 4545"/>
            </a:avLst>
          </a:prstGeom>
          <a:solidFill>
            <a:srgbClr val="FFFFFF"/>
          </a:solidFill>
          <a:ln w="12700">
            <a:solidFill>
              <a:srgbClr val="1A7F37"/>
            </a:solidFill>
            <a:prstDash val="solid"/>
          </a:ln>
        </p:spPr>
      </p:sp>
      <p:sp>
        <p:nvSpPr>
          <p:cNvPr id="4" name="Text 2"/>
          <p:cNvSpPr txBox="1"/>
          <p:nvPr/>
        </p:nvSpPr>
        <p:spPr>
          <a:xfrm>
            <a:off x="1371600" y="2286000"/>
            <a:ext cx="9418320" cy="2011680"/>
          </a:xfrm>
          <a:prstGeom prst="rect">
            <a:avLst/>
          </a:prstGeom>
          <a:noFill/>
          <a:ln/>
        </p:spPr>
        <p:txBody>
          <a:bodyPr wrap="square" lIns="0" tIns="0" rIns="0" bIns="0" rtlCol="0" anchor="ctr"/>
          <a:lstStyle/>
          <a:p>
            <a:pPr algn="l" indent="0" marL="0">
              <a:buNone/>
            </a:pPr>
            <a:r>
              <a:rPr lang="en-US" sz="2300" i="1" dirty="0">
                <a:solidFill>
                  <a:schemeClr val="bg1"/>
                </a:solidFill>
                <a:latin typeface="Calibri" pitchFamily="34" charset="0"/>
                <a:ea typeface="Calibri" pitchFamily="34" charset="-122"/>
                <a:cs typeface="Calibri" pitchFamily="34" charset="-120"/>
              </a:rPr>
              <a:t>Not everyone can get a computer to do what it's capable of — it depends on which interface you already know.</a:t>
            </a:r>
            <a:endParaRPr lang="en-US" sz="2300" dirty="0"/>
          </a:p>
        </p:txBody>
      </p:sp>
      <p:sp>
        <p:nvSpPr>
          <p:cNvPr id="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Research Questions</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RQ1 — Can we predict a command's effects before it runs — and undo it — better than a pattern list?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RQ2 — How do we let someone direct a whole desktop in ordinary language?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RQ3 — What confirmation and recovery design lets someone undo a mistake, even one they approved?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RQ4 — Does this close the fluency gap between people fluent in neither the command line nor a GUI?</a:t>
            </a:r>
            <a:endParaRPr lang="en-US" sz="1900" dirty="0"/>
          </a:p>
        </p:txBody>
      </p:sp>
      <p:sp>
        <p:nvSpPr>
          <p:cNvPr id="4" name="Shape 2"/>
          <p:cNvSpPr/>
          <p:nvPr/>
        </p:nvSpPr>
        <p:spPr>
          <a:xfrm>
            <a:off x="548640" y="5715000"/>
            <a:ext cx="11064240" cy="685800"/>
          </a:xfrm>
          <a:prstGeom prst="roundRect">
            <a:avLst>
              <a:gd name="adj" fmla="val 8000"/>
            </a:avLst>
          </a:prstGeom>
          <a:solidFill>
            <a:srgbClr val="FFFFFF"/>
          </a:solidFill>
          <a:ln w="12700">
            <a:solidFill>
              <a:srgbClr val="D0D7DE"/>
            </a:solidFill>
            <a:prstDash val="solid"/>
          </a:ln>
        </p:spPr>
      </p:sp>
      <p:sp>
        <p:nvSpPr>
          <p:cNvPr id="5" name="Text 3"/>
          <p:cNvSpPr txBox="1"/>
          <p:nvPr/>
        </p:nvSpPr>
        <p:spPr>
          <a:xfrm>
            <a:off x="822960" y="5715000"/>
            <a:ext cx="10515600" cy="68580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RQ1 leads on purpose </a:t>
            </a:r>
            <a:pPr indent="0" marL="0">
              <a:buNone/>
            </a:pPr>
            <a:r>
              <a:rPr lang="en-US" sz="1500" dirty="0">
                <a:solidFill>
                  <a:schemeClr val="bg2"/>
                </a:solidFill>
                <a:latin typeface="Calibri" pitchFamily="34" charset="0"/>
                <a:ea typeface="Calibri" pitchFamily="34" charset="-122"/>
                <a:cs typeface="Calibri" pitchFamily="34" charset="-120"/>
              </a:rPr>
              <a:t>— two independent contributions, not one subordinate to the other.</a:t>
            </a:r>
            <a:endParaRPr lang="en-US" sz="15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Conceptual Framework</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Four-layer pipeline, from Chapter 2's literature review:</a:t>
            </a:r>
            <a:endParaRPr lang="en-US" sz="1800" dirty="0"/>
          </a:p>
        </p:txBody>
      </p:sp>
      <p:sp>
        <p:nvSpPr>
          <p:cNvPr id="4" name="Shape 2"/>
          <p:cNvSpPr/>
          <p:nvPr/>
        </p:nvSpPr>
        <p:spPr>
          <a:xfrm>
            <a:off x="640080" y="2331720"/>
            <a:ext cx="2423160" cy="2103120"/>
          </a:xfrm>
          <a:prstGeom prst="roundRect">
            <a:avLst>
              <a:gd name="adj" fmla="val 3478"/>
            </a:avLst>
          </a:prstGeom>
          <a:solidFill>
            <a:srgbClr val="FFFFFF"/>
          </a:solidFill>
          <a:ln w="19050">
            <a:solidFill>
              <a:srgbClr val="0969DA"/>
            </a:solidFill>
            <a:prstDash val="solid"/>
          </a:ln>
        </p:spPr>
      </p:sp>
      <p:sp>
        <p:nvSpPr>
          <p:cNvPr id="5" name="Text 3"/>
          <p:cNvSpPr txBox="1"/>
          <p:nvPr/>
        </p:nvSpPr>
        <p:spPr>
          <a:xfrm>
            <a:off x="640080" y="2441448"/>
            <a:ext cx="2423160" cy="502920"/>
          </a:xfrm>
          <a:prstGeom prst="rect">
            <a:avLst/>
          </a:prstGeom>
          <a:noFill/>
          <a:ln/>
        </p:spPr>
        <p:txBody>
          <a:bodyPr wrap="square" lIns="0" tIns="0" rIns="0" bIns="0" rtlCol="0" anchor="ctr"/>
          <a:lstStyle/>
          <a:p>
            <a:pPr algn="ctr" indent="0" marL="0">
              <a:buNone/>
            </a:pPr>
            <a:r>
              <a:rPr lang="en-US" sz="1700" b="1" dirty="0">
                <a:solidFill>
                  <a:srgbClr val="0969DA"/>
                </a:solidFill>
                <a:latin typeface="Courier New" pitchFamily="34" charset="0"/>
                <a:ea typeface="Courier New" pitchFamily="34" charset="-122"/>
                <a:cs typeface="Courier New" pitchFamily="34" charset="-120"/>
              </a:rPr>
              <a:t>INPUT</a:t>
            </a:r>
            <a:endParaRPr lang="en-US" sz="1700" dirty="0"/>
          </a:p>
        </p:txBody>
      </p:sp>
      <p:sp>
        <p:nvSpPr>
          <p:cNvPr id="6" name="Text 4"/>
          <p:cNvSpPr txBox="1"/>
          <p:nvPr/>
        </p:nvSpPr>
        <p:spPr>
          <a:xfrm>
            <a:off x="74980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Intent arrives as text (or speech/gesture)</a:t>
            </a:r>
            <a:endParaRPr lang="en-US" sz="1300" dirty="0"/>
          </a:p>
        </p:txBody>
      </p:sp>
      <p:sp>
        <p:nvSpPr>
          <p:cNvPr id="7" name="Text 5"/>
          <p:cNvSpPr txBox="1"/>
          <p:nvPr/>
        </p:nvSpPr>
        <p:spPr>
          <a:xfrm>
            <a:off x="306324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8" name="Shape 6"/>
          <p:cNvSpPr/>
          <p:nvPr/>
        </p:nvSpPr>
        <p:spPr>
          <a:xfrm>
            <a:off x="3566160" y="2331720"/>
            <a:ext cx="2423160" cy="2103120"/>
          </a:xfrm>
          <a:prstGeom prst="roundRect">
            <a:avLst>
              <a:gd name="adj" fmla="val 3478"/>
            </a:avLst>
          </a:prstGeom>
          <a:solidFill>
            <a:srgbClr val="FFFFFF"/>
          </a:solidFill>
          <a:ln w="19050">
            <a:solidFill>
              <a:srgbClr val="1A7F37"/>
            </a:solidFill>
            <a:prstDash val="solid"/>
          </a:ln>
        </p:spPr>
      </p:sp>
      <p:sp>
        <p:nvSpPr>
          <p:cNvPr id="9" name="Text 7"/>
          <p:cNvSpPr txBox="1"/>
          <p:nvPr/>
        </p:nvSpPr>
        <p:spPr>
          <a:xfrm>
            <a:off x="3566160" y="2441448"/>
            <a:ext cx="2423160" cy="502920"/>
          </a:xfrm>
          <a:prstGeom prst="rect">
            <a:avLst/>
          </a:prstGeom>
          <a:noFill/>
          <a:ln/>
        </p:spPr>
        <p:txBody>
          <a:bodyPr wrap="square" lIns="0" tIns="0" rIns="0" bIns="0" rtlCol="0" anchor="ctr"/>
          <a:lstStyle/>
          <a:p>
            <a:pPr algn="ctr" indent="0" marL="0">
              <a:buNone/>
            </a:pPr>
            <a:r>
              <a:rPr lang="en-US" sz="1700" b="1" dirty="0">
                <a:solidFill>
                  <a:srgbClr val="1A7F37"/>
                </a:solidFill>
                <a:latin typeface="Courier New" pitchFamily="34" charset="0"/>
                <a:ea typeface="Courier New" pitchFamily="34" charset="-122"/>
                <a:cs typeface="Courier New" pitchFamily="34" charset="-120"/>
              </a:rPr>
              <a:t>REASONING</a:t>
            </a:r>
            <a:endParaRPr lang="en-US" sz="1700" dirty="0"/>
          </a:p>
        </p:txBody>
      </p:sp>
      <p:sp>
        <p:nvSpPr>
          <p:cNvPr id="10" name="Text 8"/>
          <p:cNvSpPr txBox="1"/>
          <p:nvPr/>
        </p:nvSpPr>
        <p:spPr>
          <a:xfrm>
            <a:off x="367588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Locally-hosted small language model parses intent</a:t>
            </a:r>
            <a:endParaRPr lang="en-US" sz="1300" dirty="0"/>
          </a:p>
        </p:txBody>
      </p:sp>
      <p:sp>
        <p:nvSpPr>
          <p:cNvPr id="11" name="Text 9"/>
          <p:cNvSpPr txBox="1"/>
          <p:nvPr/>
        </p:nvSpPr>
        <p:spPr>
          <a:xfrm>
            <a:off x="598932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2" name="Shape 10"/>
          <p:cNvSpPr/>
          <p:nvPr/>
        </p:nvSpPr>
        <p:spPr>
          <a:xfrm>
            <a:off x="6492240" y="2331720"/>
            <a:ext cx="2423160" cy="2103120"/>
          </a:xfrm>
          <a:prstGeom prst="roundRect">
            <a:avLst>
              <a:gd name="adj" fmla="val 3478"/>
            </a:avLst>
          </a:prstGeom>
          <a:solidFill>
            <a:srgbClr val="FFFFFF"/>
          </a:solidFill>
          <a:ln w="19050">
            <a:solidFill>
              <a:srgbClr val="9A6700"/>
            </a:solidFill>
            <a:prstDash val="solid"/>
          </a:ln>
        </p:spPr>
      </p:sp>
      <p:sp>
        <p:nvSpPr>
          <p:cNvPr id="13" name="Text 11"/>
          <p:cNvSpPr txBox="1"/>
          <p:nvPr/>
        </p:nvSpPr>
        <p:spPr>
          <a:xfrm>
            <a:off x="6492240" y="2441448"/>
            <a:ext cx="2423160" cy="502920"/>
          </a:xfrm>
          <a:prstGeom prst="rect">
            <a:avLst/>
          </a:prstGeom>
          <a:noFill/>
          <a:ln/>
        </p:spPr>
        <p:txBody>
          <a:bodyPr wrap="square" lIns="0" tIns="0" rIns="0" bIns="0" rtlCol="0" anchor="ctr"/>
          <a:lstStyle/>
          <a:p>
            <a:pPr algn="ctr" indent="0" marL="0">
              <a:buNone/>
            </a:pPr>
            <a:r>
              <a:rPr lang="en-US" sz="1700" b="1" dirty="0">
                <a:solidFill>
                  <a:srgbClr val="9A6700"/>
                </a:solidFill>
                <a:latin typeface="Courier New" pitchFamily="34" charset="0"/>
                <a:ea typeface="Courier New" pitchFamily="34" charset="-122"/>
                <a:cs typeface="Courier New" pitchFamily="34" charset="-120"/>
              </a:rPr>
              <a:t>ACTION</a:t>
            </a:r>
            <a:endParaRPr lang="en-US" sz="1700" dirty="0"/>
          </a:p>
        </p:txBody>
      </p:sp>
      <p:sp>
        <p:nvSpPr>
          <p:cNvPr id="14" name="Text 12"/>
          <p:cNvSpPr txBox="1"/>
          <p:nvPr/>
        </p:nvSpPr>
        <p:spPr>
          <a:xfrm>
            <a:off x="660196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Translated into shell commands via the standard toolchain</a:t>
            </a:r>
            <a:endParaRPr lang="en-US" sz="1300" dirty="0"/>
          </a:p>
        </p:txBody>
      </p:sp>
      <p:sp>
        <p:nvSpPr>
          <p:cNvPr id="15" name="Text 13"/>
          <p:cNvSpPr txBox="1"/>
          <p:nvPr/>
        </p:nvSpPr>
        <p:spPr>
          <a:xfrm>
            <a:off x="891540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6" name="Shape 14"/>
          <p:cNvSpPr/>
          <p:nvPr/>
        </p:nvSpPr>
        <p:spPr>
          <a:xfrm>
            <a:off x="9418320" y="2331720"/>
            <a:ext cx="2423160" cy="2103120"/>
          </a:xfrm>
          <a:prstGeom prst="roundRect">
            <a:avLst>
              <a:gd name="adj" fmla="val 3478"/>
            </a:avLst>
          </a:prstGeom>
          <a:solidFill>
            <a:srgbClr val="FFFFFF"/>
          </a:solidFill>
          <a:ln w="19050">
            <a:solidFill>
              <a:srgbClr val="CF222E"/>
            </a:solidFill>
            <a:prstDash val="solid"/>
          </a:ln>
        </p:spPr>
      </p:sp>
      <p:sp>
        <p:nvSpPr>
          <p:cNvPr id="17" name="Text 15"/>
          <p:cNvSpPr txBox="1"/>
          <p:nvPr/>
        </p:nvSpPr>
        <p:spPr>
          <a:xfrm>
            <a:off x="9418320" y="2441448"/>
            <a:ext cx="2423160" cy="502920"/>
          </a:xfrm>
          <a:prstGeom prst="rect">
            <a:avLst/>
          </a:prstGeom>
          <a:noFill/>
          <a:ln/>
        </p:spPr>
        <p:txBody>
          <a:bodyPr wrap="square" lIns="0" tIns="0" rIns="0" bIns="0" rtlCol="0" anchor="ctr"/>
          <a:lstStyle/>
          <a:p>
            <a:pPr algn="ctr" indent="0" marL="0">
              <a:buNone/>
            </a:pPr>
            <a:r>
              <a:rPr lang="en-US" sz="1700" b="1" dirty="0">
                <a:solidFill>
                  <a:srgbClr val="CF222E"/>
                </a:solidFill>
                <a:latin typeface="Courier New" pitchFamily="34" charset="0"/>
                <a:ea typeface="Courier New" pitchFamily="34" charset="-122"/>
                <a:cs typeface="Courier New" pitchFamily="34" charset="-120"/>
              </a:rPr>
              <a:t>OS INTEGRATION</a:t>
            </a:r>
            <a:endParaRPr lang="en-US" sz="1700" dirty="0"/>
          </a:p>
        </p:txBody>
      </p:sp>
      <p:sp>
        <p:nvSpPr>
          <p:cNvPr id="18" name="Text 16"/>
          <p:cNvSpPr txBox="1"/>
          <p:nvPr/>
        </p:nvSpPr>
        <p:spPr>
          <a:xfrm>
            <a:off x="952804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Spans the full graphical session, not one app</a:t>
            </a:r>
            <a:endParaRPr lang="en-US" sz="1300" dirty="0"/>
          </a:p>
        </p:txBody>
      </p:sp>
      <p:sp>
        <p:nvSpPr>
          <p:cNvPr id="19" name="Text 17"/>
          <p:cNvSpPr txBox="1"/>
          <p:nvPr/>
        </p:nvSpPr>
        <p:spPr>
          <a:xfrm>
            <a:off x="640080" y="4800600"/>
            <a:ext cx="10881360" cy="914400"/>
          </a:xfrm>
          <a:prstGeom prst="rect">
            <a:avLst/>
          </a:prstGeom>
          <a:noFill/>
          <a:ln/>
        </p:spPr>
        <p:txBody>
          <a:bodyPr wrap="square" lIns="0" tIns="0" rIns="0" bIns="0" rtlCol="0" anchor="ctr"/>
          <a:lstStyle/>
          <a:p>
            <a:pPr indent="0" marL="0">
              <a:buNone/>
            </a:pPr>
            <a:r>
              <a:rPr lang="en-US" sz="1800" i="1" dirty="0">
                <a:solidFill>
                  <a:schemeClr val="bg1"/>
                </a:solidFill>
                <a:latin typeface="Calibri" pitchFamily="34" charset="0"/>
                <a:ea typeface="Calibri" pitchFamily="34" charset="-122"/>
                <a:cs typeface="Calibri" pitchFamily="34" charset="-120"/>
              </a:rPr>
              <a:t>SynapseOS instantiates this directly — the algorithm (RQ1) governs the Action layer.</a:t>
            </a:r>
            <a:endParaRPr lang="en-US" sz="1800" dirty="0"/>
          </a:p>
        </p:txBody>
      </p:sp>
      <p:sp>
        <p:nvSpPr>
          <p:cNvPr id="21"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It Looks Like</a:t>
            </a:r>
            <a:endParaRPr lang="en-US" sz="3400" dirty="0"/>
          </a:p>
        </p:txBody>
      </p:sp>
      <p:pic>
        <p:nvPicPr>
          <p:cNvPr id="3" name="Image 0" descr="media/what-it-looks-like.gif">    </p:cNvPr>
          <p:cNvPicPr>
            <a:picLocks noChangeAspect="1"/>
          </p:cNvPicPr>
          <p:nvPr/>
        </p:nvPicPr>
        <p:blipFill>
          <a:blip r:embed="rId1"/>
          <a:stretch>
            <a:fillRect/>
          </a:stretch>
        </p:blipFill>
        <p:spPr>
          <a:xfrm>
            <a:off x="1234440" y="1691640"/>
            <a:ext cx="9692640" cy="4407408"/>
          </a:xfrm>
          <a:prstGeom prst="rect">
            <a:avLst/>
          </a:prstGeom>
        </p:spPr>
      </p:pic>
      <p:sp>
        <p:nvSpPr>
          <p:cNvPr id="5"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The Algorithm Sees</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Not the chat interface — a tool we built for the algorithm itself, reasoning about a real command:</a:t>
            </a:r>
            <a:endParaRPr lang="en-US" sz="1800" dirty="0"/>
          </a:p>
        </p:txBody>
      </p:sp>
      <p:pic>
        <p:nvPicPr>
          <p:cNvPr id="4" name="Image 0" descr="media/algorithm-trace.png">    </p:cNvPr>
          <p:cNvPicPr>
            <a:picLocks noChangeAspect="1"/>
          </p:cNvPicPr>
          <p:nvPr/>
        </p:nvPicPr>
        <p:blipFill>
          <a:blip r:embed="rId1"/>
          <a:stretch>
            <a:fillRect/>
          </a:stretch>
        </p:blipFill>
        <p:spPr>
          <a:xfrm>
            <a:off x="1234440" y="2103120"/>
            <a:ext cx="9692640" cy="1353312"/>
          </a:xfrm>
          <a:prstGeom prst="rect">
            <a:avLst/>
          </a:prstGeom>
        </p:spPr>
      </p:pic>
      <p:sp>
        <p:nvSpPr>
          <p:cNvPr id="5" name="Text 2"/>
          <p:cNvSpPr txBox="1"/>
          <p:nvPr/>
        </p:nvSpPr>
        <p:spPr>
          <a:xfrm>
            <a:off x="548640" y="3749040"/>
            <a:ext cx="11064240" cy="54864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Sees through find -exec </a:t>
            </a:r>
            <a:pPr indent="0" marL="0">
              <a:buNone/>
            </a:pPr>
            <a:r>
              <a:rPr lang="en-US" sz="1600" dirty="0">
                <a:solidFill>
                  <a:schemeClr val="bg1"/>
                </a:solidFill>
                <a:latin typeface="Calibri" pitchFamily="34" charset="0"/>
                <a:ea typeface="Calibri" pitchFamily="34" charset="-122"/>
                <a:cs typeface="Calibri" pitchFamily="34" charset="-120"/>
              </a:rPr>
              <a:t>→ resolves the real files it would touch → labels it recoverable, with a capture plan.</a:t>
            </a:r>
            <a:endParaRPr lang="en-US" sz="16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The Problem</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Generated commands can destroy data silently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Pattern lists judge a command by its name, not its effect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Binary choice today: unsafe (let it through) or useless (refuse everything)</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Needed: know the command's actual effect before it runs</a:t>
            </a:r>
            <a:endParaRPr lang="en-US" sz="1900" dirty="0"/>
          </a:p>
        </p:txBody>
      </p:sp>
      <p:sp>
        <p:nvSpPr>
          <p:cNvPr id="4" name="Text 2"/>
          <p:cNvSpPr txBox="1"/>
          <p:nvPr/>
        </p:nvSpPr>
        <p:spPr>
          <a:xfrm>
            <a:off x="548640" y="5120640"/>
            <a:ext cx="11064240" cy="548640"/>
          </a:xfrm>
          <a:prstGeom prst="rect">
            <a:avLst/>
          </a:prstGeom>
          <a:noFill/>
          <a:ln/>
        </p:spPr>
        <p:txBody>
          <a:bodyPr wrap="square" lIns="0" tIns="0" rIns="0" bIns="0" rtlCol="0" anchor="ctr"/>
          <a:lstStyle/>
          <a:p>
            <a:pPr indent="0" marL="0">
              <a:buNone/>
            </a:pPr>
            <a:r>
              <a:rPr lang="en-US" sz="1400" i="1" dirty="0">
                <a:solidFill>
                  <a:schemeClr val="bg2"/>
                </a:solidFill>
                <a:latin typeface="Calibri" pitchFamily="34" charset="0"/>
                <a:ea typeface="Calibri" pitchFamily="34" charset="-122"/>
                <a:cs typeface="Calibri" pitchFamily="34" charset="-120"/>
              </a:rPr>
              <a:t>The algorithm itself is real code in our repository, not a formula on paper — prototype/internal/effects.</a:t>
            </a:r>
            <a:endParaRPr lang="en-US" sz="14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What It Claims</a:t>
            </a:r>
            <a:endParaRPr lang="en-US" sz="3400" dirty="0"/>
          </a:p>
        </p:txBody>
      </p:sp>
      <p:sp>
        <p:nvSpPr>
          <p:cNvPr id="3" name="Shape 1"/>
          <p:cNvSpPr/>
          <p:nvPr/>
        </p:nvSpPr>
        <p:spPr>
          <a:xfrm>
            <a:off x="548640" y="1371600"/>
            <a:ext cx="5349240" cy="1691640"/>
          </a:xfrm>
          <a:prstGeom prst="roundRect">
            <a:avLst>
              <a:gd name="adj" fmla="val 4324"/>
            </a:avLst>
          </a:prstGeom>
          <a:solidFill>
            <a:srgbClr val="FFFFFF"/>
          </a:solidFill>
          <a:ln w="15240">
            <a:solidFill>
              <a:srgbClr val="1A7F37"/>
            </a:solidFill>
            <a:prstDash val="solid"/>
          </a:ln>
        </p:spPr>
      </p:sp>
      <p:sp>
        <p:nvSpPr>
          <p:cNvPr id="4" name="Text 2"/>
          <p:cNvSpPr txBox="1"/>
          <p:nvPr/>
        </p:nvSpPr>
        <p:spPr>
          <a:xfrm>
            <a:off x="77724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Composition through wrappers</a:t>
            </a:r>
            <a:endParaRPr lang="en-US" sz="1600" dirty="0"/>
          </a:p>
        </p:txBody>
      </p:sp>
      <p:sp>
        <p:nvSpPr>
          <p:cNvPr id="5" name="Text 3"/>
          <p:cNvSpPr txBox="1"/>
          <p:nvPr/>
        </p:nvSpPr>
        <p:spPr>
          <a:xfrm>
            <a:off x="77724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find -exec, xargs, loops, substitution, pipelines, sudo — earlier segments visible to later ones</a:t>
            </a:r>
            <a:endParaRPr lang="en-US" sz="1500" dirty="0"/>
          </a:p>
        </p:txBody>
      </p:sp>
      <p:sp>
        <p:nvSpPr>
          <p:cNvPr id="6" name="Shape 4"/>
          <p:cNvSpPr/>
          <p:nvPr/>
        </p:nvSpPr>
        <p:spPr>
          <a:xfrm>
            <a:off x="6172200" y="1371600"/>
            <a:ext cx="5349240" cy="1691640"/>
          </a:xfrm>
          <a:prstGeom prst="roundRect">
            <a:avLst>
              <a:gd name="adj" fmla="val 4324"/>
            </a:avLst>
          </a:prstGeom>
          <a:solidFill>
            <a:srgbClr val="FFFFFF"/>
          </a:solidFill>
          <a:ln w="15240">
            <a:solidFill>
              <a:srgbClr val="1A7F37"/>
            </a:solidFill>
            <a:prstDash val="solid"/>
          </a:ln>
        </p:spPr>
      </p:sp>
      <p:sp>
        <p:nvSpPr>
          <p:cNvPr id="7" name="Text 5"/>
          <p:cNvSpPr txBox="1"/>
          <p:nvPr/>
        </p:nvSpPr>
        <p:spPr>
          <a:xfrm>
            <a:off x="640080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Resolution of run-time targets</a:t>
            </a:r>
            <a:endParaRPr lang="en-US" sz="1600" dirty="0"/>
          </a:p>
        </p:txBody>
      </p:sp>
      <p:sp>
        <p:nvSpPr>
          <p:cNvPr id="8" name="Text 6"/>
          <p:cNvSpPr txBox="1"/>
          <p:nvPr/>
        </p:nvSpPr>
        <p:spPr>
          <a:xfrm>
            <a:off x="640080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Targets computed at run time (rm $(ls *.log), find -delete, xargs rm) resolved via a read-only dry run before execution</a:t>
            </a:r>
            <a:endParaRPr lang="en-US" sz="1500" dirty="0"/>
          </a:p>
        </p:txBody>
      </p:sp>
      <p:sp>
        <p:nvSpPr>
          <p:cNvPr id="9" name="Shape 7"/>
          <p:cNvSpPr/>
          <p:nvPr/>
        </p:nvSpPr>
        <p:spPr>
          <a:xfrm>
            <a:off x="548640" y="3246120"/>
            <a:ext cx="10972800" cy="594360"/>
          </a:xfrm>
          <a:prstGeom prst="roundRect">
            <a:avLst>
              <a:gd name="adj" fmla="val 9231"/>
            </a:avLst>
          </a:prstGeom>
          <a:solidFill>
            <a:srgbClr val="FFFFFF"/>
          </a:solidFill>
          <a:ln w="12700">
            <a:solidFill>
              <a:srgbClr val="9A6700"/>
            </a:solidFill>
            <a:prstDash val="solid"/>
          </a:ln>
        </p:spPr>
      </p:sp>
      <p:sp>
        <p:nvSpPr>
          <p:cNvPr id="10" name="Text 8"/>
          <p:cNvSpPr txBox="1"/>
          <p:nvPr/>
        </p:nvSpPr>
        <p:spPr>
          <a:xfrm>
            <a:off x="822960" y="3246120"/>
            <a:ext cx="10424160" cy="59436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Deliberately narrow: </a:t>
            </a:r>
            <a:pPr indent="0" marL="0">
              <a:buNone/>
            </a:pPr>
            <a:r>
              <a:rPr lang="en-US" sz="1500" dirty="0">
                <a:solidFill>
                  <a:schemeClr val="bg1"/>
                </a:solidFill>
                <a:latin typeface="Calibri" pitchFamily="34" charset="0"/>
                <a:ea typeface="Calibri" pitchFamily="34" charset="-122"/>
                <a:cs typeface="Calibri" pitchFamily="34" charset="-120"/>
              </a:rPr>
              <a:t>unmodeled commands are unknown → fail closed, ask, capture nothing.</a:t>
            </a:r>
            <a:endParaRPr lang="en-US" sz="1500" dirty="0"/>
          </a:p>
        </p:txBody>
      </p:sp>
      <p:pic>
        <p:nvPicPr>
          <p:cNvPr id="11" name="Image 0" descr="media/safety-gate.png">    </p:cNvPr>
          <p:cNvPicPr>
            <a:picLocks noChangeAspect="1"/>
          </p:cNvPicPr>
          <p:nvPr/>
        </p:nvPicPr>
        <p:blipFill>
          <a:blip r:embed="rId1"/>
          <a:stretch>
            <a:fillRect/>
          </a:stretch>
        </p:blipFill>
        <p:spPr>
          <a:xfrm>
            <a:off x="2514600" y="3977640"/>
            <a:ext cx="7132320" cy="2093976"/>
          </a:xfrm>
          <a:prstGeom prst="rect">
            <a:avLst/>
          </a:prstGeom>
        </p:spPr>
      </p:pic>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Evaluation Design — Two Independent Studies</a:t>
            </a:r>
            <a:endParaRPr lang="en-US" sz="3400" dirty="0"/>
          </a:p>
        </p:txBody>
      </p:sp>
      <p:sp>
        <p:nvSpPr>
          <p:cNvPr id="3" name="Shape 1"/>
          <p:cNvSpPr/>
          <p:nvPr/>
        </p:nvSpPr>
        <p:spPr>
          <a:xfrm>
            <a:off x="548640" y="1554480"/>
            <a:ext cx="5349240" cy="4297680"/>
          </a:xfrm>
          <a:prstGeom prst="roundRect">
            <a:avLst>
              <a:gd name="adj" fmla="val 1702"/>
            </a:avLst>
          </a:prstGeom>
          <a:solidFill>
            <a:srgbClr val="FFFFFF"/>
          </a:solidFill>
          <a:ln w="15240">
            <a:solidFill>
              <a:srgbClr val="1A7F37"/>
            </a:solidFill>
            <a:prstDash val="solid"/>
          </a:ln>
        </p:spPr>
      </p:sp>
      <p:sp>
        <p:nvSpPr>
          <p:cNvPr id="4" name="Text 2"/>
          <p:cNvSpPr txBox="1"/>
          <p:nvPr/>
        </p:nvSpPr>
        <p:spPr>
          <a:xfrm>
            <a:off x="822960" y="1783080"/>
            <a:ext cx="4800600" cy="502920"/>
          </a:xfrm>
          <a:prstGeom prst="rect">
            <a:avLst/>
          </a:prstGeom>
          <a:noFill/>
          <a:ln/>
        </p:spPr>
        <p:txBody>
          <a:bodyPr wrap="square" lIns="0" tIns="0" rIns="0" bIns="0" rtlCol="0" anchor="ctr"/>
          <a:lstStyle/>
          <a:p>
            <a:pPr indent="0" marL="0">
              <a:buNone/>
            </a:pPr>
            <a:r>
              <a:rPr lang="en-US" sz="1900" b="1" dirty="0">
                <a:solidFill>
                  <a:srgbClr val="1A7F37"/>
                </a:solidFill>
                <a:latin typeface="Courier New" pitchFamily="34" charset="0"/>
                <a:ea typeface="Courier New" pitchFamily="34" charset="-122"/>
                <a:cs typeface="Courier New" pitchFamily="34" charset="-120"/>
              </a:rPr>
              <a:t>Algorithm study (RQ1)</a:t>
            </a:r>
            <a:endParaRPr lang="en-US" sz="1900" dirty="0"/>
          </a:p>
        </p:txBody>
      </p:sp>
      <p:sp>
        <p:nvSpPr>
          <p:cNvPr id="5" name="Text 3"/>
          <p:cNvSpPr txBox="1"/>
          <p:nvPr/>
        </p:nvSpPr>
        <p:spPr>
          <a:xfrm>
            <a:off x="82296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Corpus-based — no participants</a:t>
            </a:r>
            <a:endParaRPr lang="en-US" sz="1600" dirty="0"/>
          </a:p>
          <a:p>
            <a:pPr marL="342900" indent="-342900">
              <a:spcAft>
                <a:spcPts val="1200"/>
              </a:spcAft>
              <a:buSzPct val="100000"/>
              <a:buChar char="▸"/>
            </a:pPr>
            <a:r>
              <a:rPr lang="en-US" sz="1600" dirty="0">
                <a:solidFill>
                  <a:schemeClr val="bg1"/>
                </a:solidFill>
              </a:rPr>
              <a:t>Held-out commands, sandboxed ground truth</a:t>
            </a:r>
            <a:endParaRPr lang="en-US" sz="1600" dirty="0"/>
          </a:p>
          <a:p>
            <a:pPr marL="342900" indent="-342900">
              <a:spcAft>
                <a:spcPts val="1200"/>
              </a:spcAft>
              <a:buSzPct val="100000"/>
              <a:buChar char="▸"/>
            </a:pPr>
            <a:r>
              <a:rPr lang="en-US" sz="1600" dirty="0">
                <a:solidFill>
                  <a:schemeClr val="bg1"/>
                </a:solidFill>
              </a:rPr>
              <a:t>Three baselines: pattern list, fail-closed list, algorithm</a:t>
            </a:r>
            <a:endParaRPr lang="en-US" sz="1600" dirty="0"/>
          </a:p>
          <a:p>
            <a:pPr marL="342900" indent="-342900">
              <a:spcAft>
                <a:spcPts val="1200"/>
              </a:spcAft>
              <a:buSzPct val="100000"/>
              <a:buChar char="▸"/>
            </a:pPr>
            <a:r>
              <a:rPr lang="en-US" sz="1600" dirty="0">
                <a:solidFill>
                  <a:schemeClr val="bg1"/>
                </a:solidFill>
              </a:rPr>
              <a:t>Answers RQ1 independently</a:t>
            </a:r>
            <a:endParaRPr lang="en-US" sz="1600" dirty="0"/>
          </a:p>
        </p:txBody>
      </p:sp>
      <p:sp>
        <p:nvSpPr>
          <p:cNvPr id="6" name="Shape 4"/>
          <p:cNvSpPr/>
          <p:nvPr/>
        </p:nvSpPr>
        <p:spPr>
          <a:xfrm>
            <a:off x="6172200" y="1554480"/>
            <a:ext cx="5349240" cy="4297680"/>
          </a:xfrm>
          <a:prstGeom prst="roundRect">
            <a:avLst>
              <a:gd name="adj" fmla="val 1702"/>
            </a:avLst>
          </a:prstGeom>
          <a:solidFill>
            <a:srgbClr val="FFFFFF"/>
          </a:solidFill>
          <a:ln w="15240">
            <a:solidFill>
              <a:srgbClr val="0969DA"/>
            </a:solidFill>
            <a:prstDash val="solid"/>
          </a:ln>
        </p:spPr>
      </p:sp>
      <p:sp>
        <p:nvSpPr>
          <p:cNvPr id="7" name="Text 5"/>
          <p:cNvSpPr txBox="1"/>
          <p:nvPr/>
        </p:nvSpPr>
        <p:spPr>
          <a:xfrm>
            <a:off x="6446520" y="1783080"/>
            <a:ext cx="4800600" cy="502920"/>
          </a:xfrm>
          <a:prstGeom prst="rect">
            <a:avLst/>
          </a:prstGeom>
          <a:noFill/>
          <a:ln/>
        </p:spPr>
        <p:txBody>
          <a:bodyPr wrap="square" lIns="0" tIns="0" rIns="0" bIns="0" rtlCol="0" anchor="ctr"/>
          <a:lstStyle/>
          <a:p>
            <a:pPr indent="0" marL="0">
              <a:buNone/>
            </a:pPr>
            <a:r>
              <a:rPr lang="en-US" sz="1900" b="1" dirty="0">
                <a:solidFill>
                  <a:srgbClr val="0969DA"/>
                </a:solidFill>
                <a:latin typeface="Courier New" pitchFamily="34" charset="0"/>
                <a:ea typeface="Courier New" pitchFamily="34" charset="-122"/>
                <a:cs typeface="Courier New" pitchFamily="34" charset="-120"/>
              </a:rPr>
              <a:t>User study (RQ2–4)</a:t>
            </a:r>
            <a:endParaRPr lang="en-US" sz="1900" dirty="0"/>
          </a:p>
        </p:txBody>
      </p:sp>
      <p:sp>
        <p:nvSpPr>
          <p:cNvPr id="8" name="Text 6"/>
          <p:cNvSpPr txBox="1"/>
          <p:nvPr/>
        </p:nvSpPr>
        <p:spPr>
          <a:xfrm>
            <a:off x="644652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40 participants, within-subjects</a:t>
            </a:r>
            <a:endParaRPr lang="en-US" sz="1600" dirty="0"/>
          </a:p>
          <a:p>
            <a:pPr marL="342900" indent="-342900">
              <a:spcAft>
                <a:spcPts val="1200"/>
              </a:spcAft>
              <a:buSzPct val="100000"/>
              <a:buChar char="▸"/>
            </a:pPr>
            <a:r>
              <a:rPr lang="en-US" sz="1600" dirty="0">
                <a:solidFill>
                  <a:schemeClr val="bg1"/>
                </a:solidFill>
              </a:rPr>
              <a:t>Each person vs. their own daily OS</a:t>
            </a:r>
            <a:endParaRPr lang="en-US" sz="1600" dirty="0"/>
          </a:p>
          <a:p>
            <a:pPr marL="342900" indent="-342900">
              <a:spcAft>
                <a:spcPts val="1200"/>
              </a:spcAft>
              <a:buSzPct val="100000"/>
              <a:buChar char="▸"/>
            </a:pPr>
            <a:r>
              <a:rPr lang="en-US" sz="1600" dirty="0">
                <a:solidFill>
                  <a:schemeClr val="bg1"/>
                </a:solidFill>
              </a:rPr>
              <a:t>OSWorld + custom cross-platform task suite</a:t>
            </a:r>
            <a:endParaRPr lang="en-US" sz="1600" dirty="0"/>
          </a:p>
          <a:p>
            <a:pPr marL="342900" indent="-342900">
              <a:spcAft>
                <a:spcPts val="1200"/>
              </a:spcAft>
              <a:buSzPct val="100000"/>
              <a:buChar char="▸"/>
            </a:pPr>
            <a:r>
              <a:rPr lang="en-US" sz="1600" dirty="0">
                <a:solidFill>
                  <a:schemeClr val="bg1"/>
                </a:solidFill>
              </a:rPr>
              <a:t>Awaiting clearance to begin</a:t>
            </a:r>
            <a:endParaRPr lang="en-US" sz="1600" dirty="0"/>
          </a:p>
        </p:txBody>
      </p:sp>
      <p:sp>
        <p:nvSpPr>
          <p:cNvPr id="10"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Silent Data Loss</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Out of 405 commands that touch something outside the filesystem or lose data.</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Restoration Coverage</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Single-annotator corpus, one held-out round — a second annotator and a larger sample are still open (open-problems.md, row 27).</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Interface Evaluation Plan (RQ2–4)</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Within-subjects: 40 participants vs. their own primary OS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Two populations: fluent in neither interface, fluent in both</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Tasks: OSWorld benchmark + custom cross-platform suite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Measures: completion time, error rate, SUS, NASA-TLX, interview</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Scope &amp; Sequencing</a:t>
            </a:r>
            <a:endParaRPr lang="en-US" sz="3400" dirty="0"/>
          </a:p>
        </p:txBody>
      </p:sp>
      <p:sp>
        <p:nvSpPr>
          <p:cNvPr id="3" name="Shape 1"/>
          <p:cNvSpPr/>
          <p:nvPr/>
        </p:nvSpPr>
        <p:spPr>
          <a:xfrm>
            <a:off x="548640" y="1554480"/>
            <a:ext cx="11064240" cy="1920240"/>
          </a:xfrm>
          <a:prstGeom prst="roundRect">
            <a:avLst>
              <a:gd name="adj" fmla="val 3810"/>
            </a:avLst>
          </a:prstGeom>
          <a:solidFill>
            <a:srgbClr val="FFFFFF"/>
          </a:solidFill>
          <a:ln w="15240">
            <a:solidFill>
              <a:srgbClr val="9A6700"/>
            </a:solidFill>
            <a:prstDash val="solid"/>
          </a:ln>
        </p:spPr>
      </p:sp>
      <p:sp>
        <p:nvSpPr>
          <p:cNvPr id="4" name="Text 2"/>
          <p:cNvSpPr txBox="1"/>
          <p:nvPr/>
        </p:nvSpPr>
        <p:spPr>
          <a:xfrm>
            <a:off x="868680" y="1737360"/>
            <a:ext cx="10424160" cy="1600200"/>
          </a:xfrm>
          <a:prstGeom prst="rect">
            <a:avLst/>
          </a:prstGeom>
          <a:noFill/>
          <a:ln/>
        </p:spPr>
        <p:txBody>
          <a:bodyPr wrap="square" lIns="0" tIns="0" rIns="0" bIns="0" rtlCol="0" anchor="ctr"/>
          <a:lstStyle/>
          <a:p>
            <a:pPr indent="0" marL="0">
              <a:buNone/>
            </a:pPr>
            <a:r>
              <a:rPr lang="en-US" sz="1900" b="1" dirty="0">
                <a:solidFill>
                  <a:schemeClr val="accent2"/>
                </a:solidFill>
                <a:latin typeface="Calibri" pitchFamily="34" charset="0"/>
                <a:ea typeface="Calibri" pitchFamily="34" charset="-122"/>
                <a:cs typeface="Calibri" pitchFamily="34" charset="-120"/>
              </a:rPr>
              <a:t>Responding directly to “manage scope carefully”:
</a:t>
            </a:r>
            <a:endParaRPr lang="en-US" sz="1900" dirty="0"/>
          </a:p>
          <a:p>
            <a:pPr indent="0" marL="0">
              <a:buNone/>
            </a:pPr>
            <a:r>
              <a:rPr lang="en-US" sz="1800" dirty="0">
                <a:solidFill>
                  <a:schemeClr val="bg1"/>
                </a:solidFill>
                <a:latin typeface="Calibri" pitchFamily="34" charset="0"/>
                <a:ea typeface="Calibri" pitchFamily="34" charset="-122"/>
                <a:cs typeface="Calibri" pitchFamily="34" charset="-120"/>
              </a:rPr>
              <a:t>Algorithm + interface launch — mandatory. Model fine-tuning + full comparative study — real, but first to shrink.</a:t>
            </a:r>
            <a:endParaRPr lang="en-US" sz="1900" dirty="0"/>
          </a:p>
        </p:txBody>
      </p:sp>
      <p:sp>
        <p:nvSpPr>
          <p:cNvPr id="5" name="Text 3"/>
          <p:cNvSpPr txBox="1"/>
          <p:nvPr/>
        </p:nvSpPr>
        <p:spPr>
          <a:xfrm>
            <a:off x="548640" y="3749040"/>
            <a:ext cx="11064240" cy="731520"/>
          </a:xfrm>
          <a:prstGeom prst="rect">
            <a:avLst/>
          </a:prstGeom>
          <a:noFill/>
          <a:ln/>
        </p:spPr>
        <p:txBody>
          <a:bodyPr wrap="square" lIns="0" tIns="0" rIns="0" bIns="0" rtlCol="0" anchor="ctr"/>
          <a:lstStyle/>
          <a:p>
            <a:pPr indent="0" marL="0">
              <a:buNone/>
            </a:pPr>
            <a:r>
              <a:rPr lang="en-US" sz="1800" i="1" dirty="0">
                <a:solidFill>
                  <a:schemeClr val="bg2"/>
                </a:solidFill>
                <a:latin typeface="Calibri" pitchFamily="34" charset="0"/>
                <a:ea typeface="Calibri" pitchFamily="34" charset="-122"/>
                <a:cs typeface="Calibri" pitchFamily="34" charset="-120"/>
              </a:rPr>
              <a:t>We are managing a research algorithm and an entirely new interface at the same time. Period.</a:t>
            </a:r>
            <a:endParaRPr lang="en-US" sz="1800" dirty="0"/>
          </a:p>
        </p:txBody>
      </p:sp>
      <p:sp>
        <p:nvSpPr>
          <p:cNvPr id="6" name="Shape 4"/>
          <p:cNvSpPr/>
          <p:nvPr/>
        </p:nvSpPr>
        <p:spPr>
          <a:xfrm>
            <a:off x="548640" y="4572000"/>
            <a:ext cx="11064240" cy="914400"/>
          </a:xfrm>
          <a:prstGeom prst="roundRect">
            <a:avLst>
              <a:gd name="adj" fmla="val 8000"/>
            </a:avLst>
          </a:prstGeom>
          <a:solidFill>
            <a:srgbClr val="FFFFFF"/>
          </a:solidFill>
          <a:ln w="12700">
            <a:solidFill>
              <a:srgbClr val="1A7F37"/>
            </a:solidFill>
            <a:prstDash val="solid"/>
          </a:ln>
        </p:spPr>
      </p:sp>
      <p:sp>
        <p:nvSpPr>
          <p:cNvPr id="7" name="Text 5"/>
          <p:cNvSpPr txBox="1"/>
          <p:nvPr/>
        </p:nvSpPr>
        <p:spPr>
          <a:xfrm>
            <a:off x="868680" y="4572000"/>
            <a:ext cx="10424160" cy="914400"/>
          </a:xfrm>
          <a:prstGeom prst="rect">
            <a:avLst/>
          </a:prstGeom>
          <a:noFill/>
          <a:ln/>
        </p:spPr>
        <p:txBody>
          <a:bodyPr wrap="square" lIns="0" tIns="0" rIns="0" bIns="0" rtlCol="0" anchor="ctr"/>
          <a:lstStyle/>
          <a:p>
            <a:pPr indent="0" marL="0">
              <a:buNone/>
            </a:pPr>
            <a:r>
              <a:rPr lang="en-US" sz="1700" b="1" dirty="0">
                <a:solidFill>
                  <a:schemeClr val="accent1"/>
                </a:solidFill>
                <a:latin typeface="Calibri" pitchFamily="34" charset="0"/>
                <a:ea typeface="Calibri" pitchFamily="34" charset="-122"/>
                <a:cs typeface="Calibri" pitchFamily="34" charset="-120"/>
              </a:rPr>
              <a:t>Also advised: </a:t>
            </a:r>
            <a:pPr indent="0" marL="0">
              <a:buNone/>
            </a:pPr>
            <a:r>
              <a:rPr lang="en-US" sz="1700" dirty="0">
                <a:solidFill>
                  <a:schemeClr val="bg1"/>
                </a:solidFill>
                <a:latin typeface="Calibri" pitchFamily="34" charset="0"/>
                <a:ea typeface="Calibri" pitchFamily="34" charset="-122"/>
                <a:cs typeface="Calibri" pitchFamily="34" charset="-120"/>
              </a:rPr>
              <a:t>rent a cloud testing machine instead of buying new hardware — keeps costs down.</a:t>
            </a:r>
            <a:endParaRPr lang="en-US" sz="1700" dirty="0"/>
          </a:p>
        </p:txBody>
      </p:sp>
      <p:sp>
        <p:nvSpPr>
          <p:cNvPr id="9"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Current Status</a:t>
            </a:r>
            <a:endParaRPr lang="en-US" sz="3400" dirty="0"/>
          </a:p>
        </p:txBody>
      </p:sp>
      <p:sp>
        <p:nvSpPr>
          <p:cNvPr id="3" name="Shape 1"/>
          <p:cNvSpPr/>
          <p:nvPr/>
        </p:nvSpPr>
        <p:spPr>
          <a:xfrm>
            <a:off x="548640" y="1737360"/>
            <a:ext cx="11064240" cy="1188720"/>
          </a:xfrm>
          <a:prstGeom prst="roundRect">
            <a:avLst>
              <a:gd name="adj" fmla="val 4615"/>
            </a:avLst>
          </a:prstGeom>
          <a:solidFill>
            <a:srgbClr val="FFFFFF"/>
          </a:solidFill>
          <a:ln w="12700">
            <a:solidFill>
              <a:srgbClr val="D0D7DE"/>
            </a:solidFill>
            <a:prstDash val="solid"/>
          </a:ln>
        </p:spPr>
      </p:sp>
      <p:sp>
        <p:nvSpPr>
          <p:cNvPr id="4" name="Shape 2"/>
          <p:cNvSpPr/>
          <p:nvPr/>
        </p:nvSpPr>
        <p:spPr>
          <a:xfrm>
            <a:off x="868680" y="2231136"/>
            <a:ext cx="237744" cy="237744"/>
          </a:xfrm>
          <a:prstGeom prst="ellipse">
            <a:avLst/>
          </a:prstGeom>
          <a:solidFill>
            <a:srgbClr val="1A7F37"/>
          </a:solidFill>
          <a:ln/>
        </p:spPr>
      </p:sp>
      <p:sp>
        <p:nvSpPr>
          <p:cNvPr id="5" name="Text 3"/>
          <p:cNvSpPr txBox="1"/>
          <p:nvPr/>
        </p:nvSpPr>
        <p:spPr>
          <a:xfrm>
            <a:off x="1280160" y="18745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Algorithm (RQ1)</a:t>
            </a:r>
            <a:endParaRPr lang="en-US" sz="1800" dirty="0"/>
          </a:p>
        </p:txBody>
      </p:sp>
      <p:sp>
        <p:nvSpPr>
          <p:cNvPr id="6" name="Text 4"/>
          <p:cNvSpPr txBox="1"/>
          <p:nvPr/>
        </p:nvSpPr>
        <p:spPr>
          <a:xfrm>
            <a:off x="5852160" y="18745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Essentially done — round 7 reported</a:t>
            </a:r>
            <a:endParaRPr lang="en-US" sz="1700" dirty="0"/>
          </a:p>
        </p:txBody>
      </p:sp>
      <p:sp>
        <p:nvSpPr>
          <p:cNvPr id="7" name="Shape 5"/>
          <p:cNvSpPr/>
          <p:nvPr/>
        </p:nvSpPr>
        <p:spPr>
          <a:xfrm>
            <a:off x="548640" y="3108960"/>
            <a:ext cx="11064240" cy="1188720"/>
          </a:xfrm>
          <a:prstGeom prst="roundRect">
            <a:avLst>
              <a:gd name="adj" fmla="val 4615"/>
            </a:avLst>
          </a:prstGeom>
          <a:solidFill>
            <a:srgbClr val="FFFFFF"/>
          </a:solidFill>
          <a:ln w="12700">
            <a:solidFill>
              <a:srgbClr val="D0D7DE"/>
            </a:solidFill>
            <a:prstDash val="solid"/>
          </a:ln>
        </p:spPr>
      </p:sp>
      <p:sp>
        <p:nvSpPr>
          <p:cNvPr id="8" name="Shape 6"/>
          <p:cNvSpPr/>
          <p:nvPr/>
        </p:nvSpPr>
        <p:spPr>
          <a:xfrm>
            <a:off x="868680" y="3602736"/>
            <a:ext cx="237744" cy="237744"/>
          </a:xfrm>
          <a:prstGeom prst="ellipse">
            <a:avLst/>
          </a:prstGeom>
          <a:solidFill>
            <a:srgbClr val="9A6700"/>
          </a:solidFill>
          <a:ln/>
        </p:spPr>
      </p:sp>
      <p:sp>
        <p:nvSpPr>
          <p:cNvPr id="9" name="Text 7"/>
          <p:cNvSpPr txBox="1"/>
          <p:nvPr/>
        </p:nvSpPr>
        <p:spPr>
          <a:xfrm>
            <a:off x="1280160" y="32461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Interface build</a:t>
            </a:r>
            <a:endParaRPr lang="en-US" sz="1800" dirty="0"/>
          </a:p>
        </p:txBody>
      </p:sp>
      <p:sp>
        <p:nvSpPr>
          <p:cNvPr id="10" name="Text 8"/>
          <p:cNvSpPr txBox="1"/>
          <p:nvPr/>
        </p:nvSpPr>
        <p:spPr>
          <a:xfrm>
            <a:off x="5852160" y="32461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 progress</a:t>
            </a:r>
            <a:endParaRPr lang="en-US" sz="1700" dirty="0"/>
          </a:p>
        </p:txBody>
      </p:sp>
      <p:sp>
        <p:nvSpPr>
          <p:cNvPr id="11" name="Shape 9"/>
          <p:cNvSpPr/>
          <p:nvPr/>
        </p:nvSpPr>
        <p:spPr>
          <a:xfrm>
            <a:off x="548640" y="4480560"/>
            <a:ext cx="11064240" cy="1188720"/>
          </a:xfrm>
          <a:prstGeom prst="roundRect">
            <a:avLst>
              <a:gd name="adj" fmla="val 4615"/>
            </a:avLst>
          </a:prstGeom>
          <a:solidFill>
            <a:srgbClr val="FFFFFF"/>
          </a:solidFill>
          <a:ln w="12700">
            <a:solidFill>
              <a:srgbClr val="D0D7DE"/>
            </a:solidFill>
            <a:prstDash val="solid"/>
          </a:ln>
        </p:spPr>
      </p:sp>
      <p:sp>
        <p:nvSpPr>
          <p:cNvPr id="12" name="Shape 10"/>
          <p:cNvSpPr/>
          <p:nvPr/>
        </p:nvSpPr>
        <p:spPr>
          <a:xfrm>
            <a:off x="868680" y="4974336"/>
            <a:ext cx="237744" cy="237744"/>
          </a:xfrm>
          <a:prstGeom prst="ellipse">
            <a:avLst/>
          </a:prstGeom>
          <a:solidFill>
            <a:srgbClr val="1A7F37"/>
          </a:solidFill>
          <a:ln/>
        </p:spPr>
      </p:sp>
      <p:sp>
        <p:nvSpPr>
          <p:cNvPr id="13" name="Text 11"/>
          <p:cNvSpPr txBox="1"/>
          <p:nvPr/>
        </p:nvSpPr>
        <p:spPr>
          <a:xfrm>
            <a:off x="1280160" y="46177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Testing machine</a:t>
            </a:r>
            <a:endParaRPr lang="en-US" sz="1800" dirty="0"/>
          </a:p>
        </p:txBody>
      </p:sp>
      <p:sp>
        <p:nvSpPr>
          <p:cNvPr id="14" name="Text 12"/>
          <p:cNvSpPr txBox="1"/>
          <p:nvPr/>
        </p:nvSpPr>
        <p:spPr>
          <a:xfrm>
            <a:off x="5852160" y="46177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Solved — renting a cloud VM instead of buying hardware</a:t>
            </a:r>
            <a:endParaRPr lang="en-US" sz="1700" dirty="0"/>
          </a:p>
        </p:txBody>
      </p:sp>
      <p:sp>
        <p:nvSpPr>
          <p:cNvPr id="1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One Question We Want to Raise Ourselves</a:t>
            </a:r>
            <a:endParaRPr lang="en-US" sz="3400" dirty="0"/>
          </a:p>
        </p:txBody>
      </p:sp>
      <p:sp>
        <p:nvSpPr>
          <p:cNvPr id="3" name="Shape 1"/>
          <p:cNvSpPr/>
          <p:nvPr/>
        </p:nvSpPr>
        <p:spPr>
          <a:xfrm>
            <a:off x="822960" y="1508760"/>
            <a:ext cx="10515600" cy="1554480"/>
          </a:xfrm>
          <a:prstGeom prst="roundRect">
            <a:avLst>
              <a:gd name="adj" fmla="val 4706"/>
            </a:avLst>
          </a:prstGeom>
          <a:solidFill>
            <a:srgbClr val="FFFFFF"/>
          </a:solidFill>
          <a:ln w="16510">
            <a:solidFill>
              <a:srgbClr val="9A6700"/>
            </a:solidFill>
            <a:prstDash val="solid"/>
          </a:ln>
        </p:spPr>
      </p:sp>
      <p:sp>
        <p:nvSpPr>
          <p:cNvPr id="4" name="Text 2"/>
          <p:cNvSpPr txBox="1"/>
          <p:nvPr/>
        </p:nvSpPr>
        <p:spPr>
          <a:xfrm>
            <a:off x="1188720" y="1691640"/>
            <a:ext cx="9784080" cy="1188720"/>
          </a:xfrm>
          <a:prstGeom prst="rect">
            <a:avLst/>
          </a:prstGeom>
          <a:noFill/>
          <a:ln/>
        </p:spPr>
        <p:txBody>
          <a:bodyPr wrap="square" lIns="0" tIns="0" rIns="0" bIns="0" rtlCol="0" anchor="ctr"/>
          <a:lstStyle/>
          <a:p>
            <a:pPr algn="ctr" indent="0" marL="0">
              <a:buNone/>
            </a:pPr>
            <a:r>
              <a:rPr lang="en-US" sz="1900" i="1" dirty="0">
                <a:solidFill>
                  <a:schemeClr val="accent2"/>
                </a:solidFill>
                <a:latin typeface="Courier New" pitchFamily="34" charset="0"/>
                <a:ea typeface="Courier New" pitchFamily="34" charset="-122"/>
                <a:cs typeface="Courier New" pitchFamily="34" charset="-120"/>
              </a:rPr>
              <a:t>“How much of this result comes from the algorithm itself, versus the hand-built rule tables underneath it?”</a:t>
            </a:r>
            <a:endParaRPr lang="en-US" sz="1900" dirty="0"/>
          </a:p>
        </p:txBody>
      </p:sp>
      <p:sp>
        <p:nvSpPr>
          <p:cNvPr id="5" name="Text 3"/>
          <p:cNvSpPr txBox="1"/>
          <p:nvPr/>
        </p:nvSpPr>
        <p:spPr>
          <a:xfrm>
            <a:off x="822960" y="3337560"/>
            <a:ext cx="10515600" cy="2926080"/>
          </a:xfrm>
          <a:prstGeom prst="rect">
            <a:avLst/>
          </a:prstGeom>
          <a:noFill/>
          <a:ln/>
        </p:spPr>
        <p:txBody>
          <a:bodyPr wrap="square" lIns="0" tIns="0" rIns="0" bIns="0" rtlCol="0" anchor="ctr"/>
          <a:lstStyle/>
          <a:p>
            <a:pPr marL="342900" indent="-342900">
              <a:spcAft>
                <a:spcPts val="1600"/>
              </a:spcAft>
              <a:buSzPct val="100000"/>
              <a:buChar char="▸"/>
            </a:pPr>
            <a:r>
              <a:rPr lang="en-US" sz="1700" dirty="0">
                <a:solidFill>
                  <a:schemeClr val="bg1"/>
                </a:solidFill>
              </a:rPr>
              <a:t>Already asked once, by our adviser</a:t>
            </a:r>
            <a:endParaRPr lang="en-US" sz="1700" dirty="0"/>
          </a:p>
          <a:p>
            <a:pPr marL="342900" indent="-342900">
              <a:spcAft>
                <a:spcPts val="1600"/>
              </a:spcAft>
              <a:buSzPct val="100000"/>
              <a:buChar char="▸"/>
            </a:pPr>
            <a:r>
              <a:rPr lang="en-US" sz="1700" dirty="0">
                <a:solidFill>
                  <a:schemeClr val="bg1"/>
                </a:solidFill>
              </a:rPr>
              <a:t>Current answer: a prose argument — the rule table is itself a list</a:t>
            </a:r>
            <a:endParaRPr lang="en-US" sz="1700" dirty="0"/>
          </a:p>
          <a:p>
            <a:pPr marL="342900" indent="-342900">
              <a:spcAft>
                <a:spcPts val="1600"/>
              </a:spcAft>
              <a:buSzPct val="100000"/>
              <a:buChar char="▸"/>
            </a:pPr>
            <a:r>
              <a:rPr lang="en-US" sz="1700" dirty="0">
                <a:solidFill>
                  <a:schemeClr val="bg1"/>
                </a:solidFill>
              </a:rPr>
              <a:t>Not yet a number — no ablation performed</a:t>
            </a:r>
            <a:endParaRPr lang="en-US" sz="1700" dirty="0"/>
          </a:p>
          <a:p>
            <a:pPr marL="342900" indent="-342900">
              <a:spcAft>
                <a:spcPts val="1600"/>
              </a:spcAft>
              <a:buSzPct val="100000"/>
              <a:buChar char="▸"/>
            </a:pPr>
            <a:r>
              <a:rPr lang="en-US" sz="1700" dirty="0">
                <a:solidFill>
                  <a:schemeClr val="bg1"/>
                </a:solidFill>
              </a:rPr>
              <a:t>Plan: analyzer flag → opaque fallback → fourth corpus column</a:t>
            </a:r>
            <a:endParaRPr lang="en-US" sz="17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Expected Contribution</a:t>
            </a:r>
            <a:endParaRPr lang="en-US" sz="3400" dirty="0"/>
          </a:p>
        </p:txBody>
      </p:sp>
      <p:sp>
        <p:nvSpPr>
          <p:cNvPr id="3" name="Shape 1"/>
          <p:cNvSpPr/>
          <p:nvPr/>
        </p:nvSpPr>
        <p:spPr>
          <a:xfrm>
            <a:off x="548640" y="1600200"/>
            <a:ext cx="3566160" cy="4023360"/>
          </a:xfrm>
          <a:prstGeom prst="roundRect">
            <a:avLst>
              <a:gd name="adj" fmla="val 2051"/>
            </a:avLst>
          </a:prstGeom>
          <a:solidFill>
            <a:srgbClr val="FFFFFF"/>
          </a:solidFill>
          <a:ln w="12700">
            <a:solidFill>
              <a:srgbClr val="D0D7DE"/>
            </a:solidFill>
            <a:prstDash val="solid"/>
          </a:ln>
        </p:spPr>
      </p:sp>
      <p:sp>
        <p:nvSpPr>
          <p:cNvPr id="4" name="Text 2"/>
          <p:cNvSpPr txBox="1"/>
          <p:nvPr/>
        </p:nvSpPr>
        <p:spPr>
          <a:xfrm>
            <a:off x="548640" y="1783080"/>
            <a:ext cx="3566160" cy="960120"/>
          </a:xfrm>
          <a:prstGeom prst="rect">
            <a:avLst/>
          </a:prstGeom>
          <a:noFill/>
          <a:ln/>
        </p:spPr>
        <p:txBody>
          <a:bodyPr wrap="square" lIns="0" tIns="0" rIns="0" bIns="0" rtlCol="0" anchor="ctr"/>
          <a:lstStyle/>
          <a:p>
            <a:pPr algn="ctr" indent="0" marL="0">
              <a:buNone/>
            </a:pPr>
            <a:r>
              <a:rPr lang="en-US" sz="3200" b="1" dirty="0">
                <a:solidFill>
                  <a:srgbClr val="1A7F37"/>
                </a:solidFill>
                <a:latin typeface="Courier New" pitchFamily="34" charset="0"/>
                <a:ea typeface="Courier New" pitchFamily="34" charset="-122"/>
                <a:cs typeface="Courier New" pitchFamily="34" charset="-120"/>
              </a:rPr>
              <a:t>RQ1</a:t>
            </a:r>
            <a:endParaRPr lang="en-US" sz="3200" dirty="0"/>
          </a:p>
        </p:txBody>
      </p:sp>
      <p:sp>
        <p:nvSpPr>
          <p:cNvPr id="5" name="Text 3"/>
          <p:cNvSpPr txBox="1"/>
          <p:nvPr/>
        </p:nvSpPr>
        <p:spPr>
          <a:xfrm>
            <a:off x="82296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Composition- and resolution-aware algorithm, evaluated against two baselines</a:t>
            </a:r>
            <a:endParaRPr lang="en-US" sz="1700" dirty="0"/>
          </a:p>
        </p:txBody>
      </p:sp>
      <p:sp>
        <p:nvSpPr>
          <p:cNvPr id="6" name="Shape 4"/>
          <p:cNvSpPr/>
          <p:nvPr/>
        </p:nvSpPr>
        <p:spPr>
          <a:xfrm>
            <a:off x="4297680" y="1600200"/>
            <a:ext cx="3566160" cy="4023360"/>
          </a:xfrm>
          <a:prstGeom prst="roundRect">
            <a:avLst>
              <a:gd name="adj" fmla="val 2051"/>
            </a:avLst>
          </a:prstGeom>
          <a:solidFill>
            <a:srgbClr val="FFFFFF"/>
          </a:solidFill>
          <a:ln w="12700">
            <a:solidFill>
              <a:srgbClr val="D0D7DE"/>
            </a:solidFill>
            <a:prstDash val="solid"/>
          </a:ln>
        </p:spPr>
      </p:sp>
      <p:sp>
        <p:nvSpPr>
          <p:cNvPr id="7" name="Text 5"/>
          <p:cNvSpPr txBox="1"/>
          <p:nvPr/>
        </p:nvSpPr>
        <p:spPr>
          <a:xfrm>
            <a:off x="4297680" y="1783080"/>
            <a:ext cx="3566160" cy="960120"/>
          </a:xfrm>
          <a:prstGeom prst="rect">
            <a:avLst/>
          </a:prstGeom>
          <a:noFill/>
          <a:ln/>
        </p:spPr>
        <p:txBody>
          <a:bodyPr wrap="square" lIns="0" tIns="0" rIns="0" bIns="0" rtlCol="0" anchor="ctr"/>
          <a:lstStyle/>
          <a:p>
            <a:pPr algn="ctr" indent="0" marL="0">
              <a:buNone/>
            </a:pPr>
            <a:r>
              <a:rPr lang="en-US" sz="3200" b="1" dirty="0">
                <a:solidFill>
                  <a:srgbClr val="0969DA"/>
                </a:solidFill>
                <a:latin typeface="Courier New" pitchFamily="34" charset="0"/>
                <a:ea typeface="Courier New" pitchFamily="34" charset="-122"/>
                <a:cs typeface="Courier New" pitchFamily="34" charset="-120"/>
              </a:rPr>
              <a:t>RQ2-3</a:t>
            </a:r>
            <a:endParaRPr lang="en-US" sz="3200" dirty="0"/>
          </a:p>
        </p:txBody>
      </p:sp>
      <p:sp>
        <p:nvSpPr>
          <p:cNvPr id="8" name="Text 6"/>
          <p:cNvSpPr txBox="1"/>
          <p:nvPr/>
        </p:nvSpPr>
        <p:spPr>
          <a:xfrm>
            <a:off x="457200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Interface layer with a reversibility-based confirmation gate and undo, over an unchanged desktop</a:t>
            </a:r>
            <a:endParaRPr lang="en-US" sz="1700" dirty="0"/>
          </a:p>
        </p:txBody>
      </p:sp>
      <p:sp>
        <p:nvSpPr>
          <p:cNvPr id="9" name="Shape 7"/>
          <p:cNvSpPr/>
          <p:nvPr/>
        </p:nvSpPr>
        <p:spPr>
          <a:xfrm>
            <a:off x="8046720" y="1600200"/>
            <a:ext cx="3566160" cy="4023360"/>
          </a:xfrm>
          <a:prstGeom prst="roundRect">
            <a:avLst>
              <a:gd name="adj" fmla="val 2051"/>
            </a:avLst>
          </a:prstGeom>
          <a:solidFill>
            <a:srgbClr val="FFFFFF"/>
          </a:solidFill>
          <a:ln w="12700">
            <a:solidFill>
              <a:srgbClr val="D0D7DE"/>
            </a:solidFill>
            <a:prstDash val="solid"/>
          </a:ln>
        </p:spPr>
      </p:sp>
      <p:sp>
        <p:nvSpPr>
          <p:cNvPr id="10" name="Text 8"/>
          <p:cNvSpPr txBox="1"/>
          <p:nvPr/>
        </p:nvSpPr>
        <p:spPr>
          <a:xfrm>
            <a:off x="8046720" y="1783080"/>
            <a:ext cx="3566160" cy="960120"/>
          </a:xfrm>
          <a:prstGeom prst="rect">
            <a:avLst/>
          </a:prstGeom>
          <a:noFill/>
          <a:ln/>
        </p:spPr>
        <p:txBody>
          <a:bodyPr wrap="square" lIns="0" tIns="0" rIns="0" bIns="0" rtlCol="0" anchor="ctr"/>
          <a:lstStyle/>
          <a:p>
            <a:pPr algn="ctr" indent="0" marL="0">
              <a:buNone/>
            </a:pPr>
            <a:r>
              <a:rPr lang="en-US" sz="3200" b="1" dirty="0">
                <a:solidFill>
                  <a:srgbClr val="9A6700"/>
                </a:solidFill>
                <a:latin typeface="Courier New" pitchFamily="34" charset="0"/>
                <a:ea typeface="Courier New" pitchFamily="34" charset="-122"/>
                <a:cs typeface="Courier New" pitchFamily="34" charset="-120"/>
              </a:rPr>
              <a:t>RQ4</a:t>
            </a:r>
            <a:endParaRPr lang="en-US" sz="3200" dirty="0"/>
          </a:p>
        </p:txBody>
      </p:sp>
      <p:sp>
        <p:nvSpPr>
          <p:cNvPr id="11" name="Text 9"/>
          <p:cNvSpPr txBox="1"/>
          <p:nvPr/>
        </p:nvSpPr>
        <p:spPr>
          <a:xfrm>
            <a:off x="832104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First controlled evidence on narrowing the CLI/GUI fluency gap</a:t>
            </a:r>
            <a:endParaRPr lang="en-US" sz="1700" dirty="0"/>
          </a:p>
        </p:txBody>
      </p:sp>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What's Next</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Spin up the rented testing machine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Finish the interface build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Run the study with real participants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Return with results, not just a plan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Thank You</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SynapseOS — Thesis 1 Proposal Defense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
</a:t>
            </a:r>
            <a:endParaRPr lang="en-US" sz="2200" dirty="0"/>
          </a:p>
          <a:p>
            <a:pPr algn="l" indent="0" marL="0">
              <a:buNone/>
            </a:pPr>
            <a:r>
              <a:rPr lang="en-US" sz="2000" dirty="0">
                <a:solidFill>
                  <a:schemeClr val="bg1"/>
                </a:solidFill>
                <a:latin typeface="Calibri" pitchFamily="34" charset="0"/>
                <a:ea typeface="Calibri" pitchFamily="34" charset="-122"/>
                <a:cs typeface="Calibri" pitchFamily="34" charset="-120"/>
              </a:rPr>
              <a:t>We welcome your questions.</a:t>
            </a:r>
            <a:endParaRPr lang="en-US" sz="2200" dirty="0"/>
          </a:p>
        </p:txBody>
      </p:sp>
    </p:spTree>
  </p:cSld>
  <p:clrMapOvr>
    <a:masterClrMapping/>
  </p:clrMapOvr>
</p:sld>
</file>

<file path=ppt/theme/theme1.xml><?xml version="1.0" encoding="utf-8"?>
<a:theme xmlns:a="http://schemas.openxmlformats.org/drawingml/2006/main" name="SynapseOS Light">
  <a:themeElements>
    <a:clrScheme name="SynapseOS Light">
      <a:dk1>
        <a:srgbClr val="F6F8FA"/>
      </a:dk1>
      <a:lt1>
        <a:srgbClr val="1A1F26"/>
      </a:lt1>
      <a:dk2>
        <a:srgbClr val="FFFFFF"/>
      </a:dk2>
      <a:lt2>
        <a:srgbClr val="57606A"/>
      </a:lt2>
      <a:accent1>
        <a:srgbClr val="1A7F37"/>
      </a:accent1>
      <a:accent2>
        <a:srgbClr val="9A6700"/>
      </a:accent2>
      <a:accent3>
        <a:srgbClr val="0969DA"/>
      </a:accent3>
      <a:accent4>
        <a:srgbClr val="CF222E"/>
      </a:accent4>
      <a:accent5>
        <a:srgbClr val="57606A"/>
      </a:accent5>
      <a:accent6>
        <a:srgbClr val="1A1F26"/>
      </a:accent6>
      <a:hlink>
        <a:srgbClr val="0969DA"/>
      </a:hlink>
      <a:folHlink>
        <a:srgbClr val="57606A"/>
      </a:folHlink>
    </a:clrScheme>
    <a:fontScheme name="SynapseOS Light">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SynapseOS Thesis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2026-10-08T05:04:46Z</dcterms:created>
  <dcterms:modified xsi:type="dcterms:W3CDTF">2026-10-08T05:04:46Z</dcterms:modified>
</cp:coreProperties>
</file>