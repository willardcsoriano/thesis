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F85149"/>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F85149"/>
              </a:solidFill>
              <a:effectLst/>
            </c:spPr>
          </c:dPt>
          <c:dPt>
            <c:idx val="1"/>
            <c:invertIfNegative val="0"/>
            <c:bubble3D val="0"/>
            <c:spPr>
              <a:solidFill>
                <a:srgbClr val="3FB950"/>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8B949E"/>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8B949E"/>
              </a:solidFill>
              <a:effectLst/>
            </c:spPr>
          </c:dPt>
          <c:dPt>
            <c:idx val="1"/>
            <c:invertIfNegative val="0"/>
            <c:bubble3D val="0"/>
            <c:spPr>
              <a:solidFill>
                <a:srgbClr val="8B949E"/>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 software that lets someone control a computer by typing plain English instead of memorized commands. This is a proposal defense, so we're presenting our plan, not final results — the comparison study with real users hasn't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but only if you know the right words to type. A graphical desktop is easier, but limits you to the buttons someone else thought to add. Nobody has yet built and tested a system that lets you control a whole Linux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line: what a computer can actually do for you depends on which interface you already know how to use. Our goal is a third option, ordinary language, that closes that gap for people regardless of technical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reordered these after an earlier review — our adviser asked whether anything would be left if we removed the chat interface entirely. So we made the safety algorithm its own standalone contribution, listed first; the other three questions are about the interface itself, and our user study answers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four-stage flow — understand the request, decide what to do, act on the computer, fit into the existing desktop — comes from our literature review in Chapter 2. SynapseOS follows this same flow, and the safety algorithm we'll discuss next lives in the 'acting' stage,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will show a real recording once we finish capturing and checking it — someone typing a plain request, the command SynapseOS generates, a safety check, and the result. We're showing this early to make one thing clear: this already works today, it isn't just a plan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accidentally delete something important before anyone notices. Today's safety check just looks at whether a command looks familiar, not at what it actually does. That leaves two bad options: let unfamiliar commands through and risk damage, or block everything unfamiliar and interrupt the user constantly. We want a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deliberately, and nothing more. First, it can see through common tricks for hiding what a command really does — loops, shortcuts, chaining several commands together. Second, when it can't know a command's target until the moment it runs, it does a safe test run first to find out exactly what would be affected. If a command is too unusual for it to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proving these two halves of our thesis in two separate ways. The safety algorithm is tested against hundreds of sample commands, with no human volunteers needed at all. The interface itself will be tested with 40 real users, once we have ethics approval to run that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several hundred risky commands we tested, today's safety list let data get silently destroyed over 40 percent of the time — damage the user never agreed to. Our algorithm, and a much stricter 'block everything unfamiliar' approach, both brought that down to essentially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safe isn't enough on its own — a system that blocks everything is also 'safe', but useless, because it never actually saves anything. Our algorithm actually recovers the lost data about 9 times out of 10; the overly-cautious approach recovers none of it, because it never even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compare SynapseOS against whatever operating system each participant already uses every day. We're deliberately recruiting two kinds of users — people comfortable with neither the command line nor a typical desktop, and people comfortable with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adviser told us, directly, to manage our scope carefully — fair, since this thesis covers a lot of ground. Our answer: the safety algorithm and getting the interface running are non-negotiable; fine-tuning the AI model and the full user study are real plans, but the first things we'd trim if we run short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work is basically finished. The interface build is underway. The real bottleneck is ethics approval — our paperwork is ready, but not yet submitted, so that's our top priority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this ourselves because our adviser already asked it once: how much of our result comes from the algorithm, versus just the lookup table it's built on? Right now we can only answer that in words, not numbers — but we already have a concrete plan to measure it directly, and we're not hiding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both halves of this project succeed, we'll have two separate wins: a safer, more useful way to catch dangerous commands, and, pending approval, the first real evidence on whether talking to a computer actually helps people who struggle with existing interfaces. Each one holds up on its own even if the other gets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limited to what designers anticipated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Linux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188720" y="2377440"/>
            <a:ext cx="9784080" cy="1828800"/>
          </a:xfrm>
          <a:prstGeom prst="roundRect">
            <a:avLst>
              <a:gd name="adj" fmla="val 5000"/>
            </a:avLst>
          </a:prstGeom>
          <a:solidFill>
            <a:srgbClr val="161B22"/>
          </a:solidFill>
          <a:ln w="12700">
            <a:solidFill>
              <a:srgbClr val="3FB950"/>
            </a:solidFill>
            <a:prstDash val="solid"/>
          </a:ln>
        </p:spPr>
      </p:sp>
      <p:sp>
        <p:nvSpPr>
          <p:cNvPr id="4" name="Text 2"/>
          <p:cNvSpPr txBox="1"/>
          <p:nvPr/>
        </p:nvSpPr>
        <p:spPr>
          <a:xfrm>
            <a:off x="1554480" y="2377440"/>
            <a:ext cx="9052560" cy="1828800"/>
          </a:xfrm>
          <a:prstGeom prst="rect">
            <a:avLst/>
          </a:prstGeom>
          <a:noFill/>
          <a:ln/>
        </p:spPr>
        <p:txBody>
          <a:bodyPr wrap="square" lIns="0" tIns="0" rIns="0" bIns="0" rtlCol="0" anchor="ctr"/>
          <a:lstStyle/>
          <a:p>
            <a:pPr algn="l" indent="0" marL="0">
              <a:buNone/>
            </a:pPr>
            <a:r>
              <a:rPr lang="en-US" sz="2400" i="1" dirty="0">
                <a:solidFill>
                  <a:schemeClr val="bg1"/>
                </a:solidFill>
                <a:latin typeface="Calibri" pitchFamily="34" charset="0"/>
                <a:ea typeface="Calibri" pitchFamily="34" charset="-122"/>
                <a:cs typeface="Calibri" pitchFamily="34" charset="-120"/>
              </a:rPr>
              <a:t>Computer capability is unevenly reachable — gated by which interface a person is fluent in.</a:t>
            </a:r>
            <a:endParaRPr lang="en-US" sz="24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Linux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161B22"/>
          </a:solidFill>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161B22"/>
          </a:solidFill>
          <a:ln w="19050">
            <a:solidFill>
              <a:srgbClr val="58A6FF"/>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58A6FF"/>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161B22"/>
          </a:solidFill>
          <a:ln w="19050">
            <a:solidFill>
              <a:srgbClr val="3FB950"/>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3FB950"/>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161B22"/>
          </a:solidFill>
          <a:ln w="19050">
            <a:solidFill>
              <a:srgbClr val="F0A5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F0A5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161B22"/>
          </a:solidFill>
          <a:ln w="19050">
            <a:solidFill>
              <a:srgbClr val="F85149"/>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F85149"/>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sp>
        <p:nvSpPr>
          <p:cNvPr id="3" name="Shape 1"/>
          <p:cNvSpPr/>
          <p:nvPr/>
        </p:nvSpPr>
        <p:spPr>
          <a:xfrm>
            <a:off x="1188720" y="1600200"/>
            <a:ext cx="9784080" cy="4572000"/>
          </a:xfrm>
          <a:prstGeom prst="roundRect">
            <a:avLst>
              <a:gd name="adj" fmla="val 1600"/>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4" name="Shape 2"/>
          <p:cNvSpPr/>
          <p:nvPr/>
        </p:nvSpPr>
        <p:spPr>
          <a:xfrm>
            <a:off x="1389888" y="1783080"/>
            <a:ext cx="128016" cy="128016"/>
          </a:xfrm>
          <a:prstGeom prst="ellipse">
            <a:avLst/>
          </a:prstGeom>
          <a:solidFill>
            <a:srgbClr val="F85149"/>
          </a:solidFill>
          <a:ln/>
        </p:spPr>
      </p:sp>
      <p:sp>
        <p:nvSpPr>
          <p:cNvPr id="5" name="Shape 3"/>
          <p:cNvSpPr/>
          <p:nvPr/>
        </p:nvSpPr>
        <p:spPr>
          <a:xfrm>
            <a:off x="1627632" y="1783080"/>
            <a:ext cx="128016" cy="128016"/>
          </a:xfrm>
          <a:prstGeom prst="ellipse">
            <a:avLst/>
          </a:prstGeom>
          <a:solidFill>
            <a:srgbClr val="F0A500"/>
          </a:solidFill>
          <a:ln/>
        </p:spPr>
      </p:sp>
      <p:sp>
        <p:nvSpPr>
          <p:cNvPr id="6" name="Shape 4"/>
          <p:cNvSpPr/>
          <p:nvPr/>
        </p:nvSpPr>
        <p:spPr>
          <a:xfrm>
            <a:off x="1865376" y="1783080"/>
            <a:ext cx="128016" cy="128016"/>
          </a:xfrm>
          <a:prstGeom prst="ellipse">
            <a:avLst/>
          </a:prstGeom>
          <a:solidFill>
            <a:srgbClr val="3FB950"/>
          </a:solidFill>
          <a:ln/>
        </p:spPr>
      </p:sp>
      <p:sp>
        <p:nvSpPr>
          <p:cNvPr id="7" name="Text 5"/>
          <p:cNvSpPr txBox="1"/>
          <p:nvPr/>
        </p:nvSpPr>
        <p:spPr>
          <a:xfrm>
            <a:off x="1554480" y="2148840"/>
            <a:ext cx="9052560" cy="3657600"/>
          </a:xfrm>
          <a:prstGeom prst="rect">
            <a:avLst/>
          </a:prstGeom>
          <a:noFill/>
          <a:ln/>
        </p:spPr>
        <p:txBody>
          <a:bodyPr wrap="square" lIns="0" tIns="0" rIns="0" bIns="0" rtlCol="0" anchor="ctr"/>
          <a:lstStyle/>
          <a:p>
            <a:pPr algn="ctr" indent="0" marL="0">
              <a:buNone/>
            </a:pPr>
            <a:r>
              <a:rPr lang="en-US" sz="1600" i="1" dirty="0">
                <a:solidFill>
                  <a:schemeClr val="bg2"/>
                </a:solidFill>
                <a:latin typeface="Courier New" pitchFamily="34" charset="0"/>
                <a:ea typeface="Courier New" pitchFamily="34" charset="-122"/>
                <a:cs typeface="Courier New" pitchFamily="34" charset="-120"/>
              </a:rPr>
              <a:t>[ placeholder — terminal capture: a natural-language request,</a:t>
            </a:r>
            <a:endParaRPr lang="en-US" sz="1600" dirty="0"/>
          </a:p>
          <a:p>
            <a:pPr algn="ctr" indent="0" marL="0">
              <a:buNone/>
            </a:pPr>
            <a:r>
              <a:rPr lang="en-US" sz="1600" i="1" dirty="0">
                <a:solidFill>
                  <a:schemeClr val="bg2"/>
                </a:solidFill>
                <a:latin typeface="Courier New" pitchFamily="34" charset="0"/>
                <a:ea typeface="Courier New" pitchFamily="34" charset="-122"/>
                <a:cs typeface="Courier New" pitchFamily="34" charset="-120"/>
              </a:rPr>
              <a:t>the generated command, the confirmation gate, and the result ]</a:t>
            </a:r>
            <a:endParaRPr lang="en-US" sz="16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463040"/>
            <a:ext cx="5349240" cy="2514600"/>
          </a:xfrm>
          <a:prstGeom prst="roundRect">
            <a:avLst>
              <a:gd name="adj" fmla="val 2909"/>
            </a:avLst>
          </a:prstGeom>
          <a:solidFill>
            <a:srgbClr val="161B22"/>
          </a:solidFill>
          <a:ln w="15240">
            <a:solidFill>
              <a:srgbClr val="3FB950"/>
            </a:solidFill>
            <a:prstDash val="solid"/>
          </a:ln>
        </p:spPr>
      </p:sp>
      <p:sp>
        <p:nvSpPr>
          <p:cNvPr id="4" name="Text 2"/>
          <p:cNvSpPr txBox="1"/>
          <p:nvPr/>
        </p:nvSpPr>
        <p:spPr>
          <a:xfrm>
            <a:off x="777240" y="1645920"/>
            <a:ext cx="4892040" cy="502920"/>
          </a:xfrm>
          <a:prstGeom prst="rect">
            <a:avLst/>
          </a:prstGeom>
          <a:noFill/>
          <a:ln/>
        </p:spPr>
        <p:txBody>
          <a:bodyPr wrap="square" lIns="0" tIns="0" rIns="0" bIns="0" rtlCol="0" anchor="ctr"/>
          <a:lstStyle/>
          <a:p>
            <a:pPr indent="0" marL="0">
              <a:buNone/>
            </a:pPr>
            <a:r>
              <a:rPr lang="en-US" sz="1700" b="1" dirty="0">
                <a:solidFill>
                  <a:schemeClr val="accent1"/>
                </a:solidFill>
                <a:latin typeface="Courier New" pitchFamily="34" charset="0"/>
                <a:ea typeface="Courier New" pitchFamily="34" charset="-122"/>
                <a:cs typeface="Courier New" pitchFamily="34" charset="-120"/>
              </a:rPr>
              <a:t>Composition through wrappers</a:t>
            </a:r>
            <a:endParaRPr lang="en-US" sz="1700" dirty="0"/>
          </a:p>
        </p:txBody>
      </p:sp>
      <p:sp>
        <p:nvSpPr>
          <p:cNvPr id="5" name="Text 3"/>
          <p:cNvSpPr txBox="1"/>
          <p:nvPr/>
        </p:nvSpPr>
        <p:spPr>
          <a:xfrm>
            <a:off x="777240" y="2194560"/>
            <a:ext cx="4892040" cy="169164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600" dirty="0"/>
          </a:p>
        </p:txBody>
      </p:sp>
      <p:sp>
        <p:nvSpPr>
          <p:cNvPr id="6" name="Shape 4"/>
          <p:cNvSpPr/>
          <p:nvPr/>
        </p:nvSpPr>
        <p:spPr>
          <a:xfrm>
            <a:off x="6172200" y="1463040"/>
            <a:ext cx="5349240" cy="2514600"/>
          </a:xfrm>
          <a:prstGeom prst="roundRect">
            <a:avLst>
              <a:gd name="adj" fmla="val 2909"/>
            </a:avLst>
          </a:prstGeom>
          <a:solidFill>
            <a:srgbClr val="161B22"/>
          </a:solidFill>
          <a:ln w="15240">
            <a:solidFill>
              <a:srgbClr val="3FB950"/>
            </a:solidFill>
            <a:prstDash val="solid"/>
          </a:ln>
        </p:spPr>
      </p:sp>
      <p:sp>
        <p:nvSpPr>
          <p:cNvPr id="7" name="Text 5"/>
          <p:cNvSpPr txBox="1"/>
          <p:nvPr/>
        </p:nvSpPr>
        <p:spPr>
          <a:xfrm>
            <a:off x="6400800" y="1645920"/>
            <a:ext cx="4892040" cy="502920"/>
          </a:xfrm>
          <a:prstGeom prst="rect">
            <a:avLst/>
          </a:prstGeom>
          <a:noFill/>
          <a:ln/>
        </p:spPr>
        <p:txBody>
          <a:bodyPr wrap="square" lIns="0" tIns="0" rIns="0" bIns="0" rtlCol="0" anchor="ctr"/>
          <a:lstStyle/>
          <a:p>
            <a:pPr indent="0" marL="0">
              <a:buNone/>
            </a:pPr>
            <a:r>
              <a:rPr lang="en-US" sz="1700" b="1" dirty="0">
                <a:solidFill>
                  <a:schemeClr val="accent1"/>
                </a:solidFill>
                <a:latin typeface="Courier New" pitchFamily="34" charset="0"/>
                <a:ea typeface="Courier New" pitchFamily="34" charset="-122"/>
                <a:cs typeface="Courier New" pitchFamily="34" charset="-120"/>
              </a:rPr>
              <a:t>Resolution of run-time targets</a:t>
            </a:r>
            <a:endParaRPr lang="en-US" sz="1700" dirty="0"/>
          </a:p>
        </p:txBody>
      </p:sp>
      <p:sp>
        <p:nvSpPr>
          <p:cNvPr id="8" name="Text 6"/>
          <p:cNvSpPr txBox="1"/>
          <p:nvPr/>
        </p:nvSpPr>
        <p:spPr>
          <a:xfrm>
            <a:off x="6400800" y="2194560"/>
            <a:ext cx="4892040" cy="1691640"/>
          </a:xfrm>
          <a:prstGeom prst="rect">
            <a:avLst/>
          </a:prstGeom>
          <a:noFill/>
          <a:ln/>
        </p:spPr>
        <p:txBody>
          <a:bodyPr wrap="square" lIns="0" tIns="0" rIns="0" bIns="0" rtlCol="0" anchor="ctr"/>
          <a:lstStyle/>
          <a:p>
            <a:pPr indent="0" marL="0">
              <a:buNone/>
            </a:pPr>
            <a:r>
              <a:rPr lang="en-US" sz="16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600" dirty="0"/>
          </a:p>
        </p:txBody>
      </p:sp>
      <p:sp>
        <p:nvSpPr>
          <p:cNvPr id="9" name="Shape 7"/>
          <p:cNvSpPr/>
          <p:nvPr/>
        </p:nvSpPr>
        <p:spPr>
          <a:xfrm>
            <a:off x="548640" y="4160520"/>
            <a:ext cx="10972800" cy="777240"/>
          </a:xfrm>
          <a:prstGeom prst="roundRect">
            <a:avLst>
              <a:gd name="adj" fmla="val 7059"/>
            </a:avLst>
          </a:prstGeom>
          <a:solidFill>
            <a:srgbClr val="161B22"/>
          </a:solidFill>
          <a:ln w="12700">
            <a:solidFill>
              <a:srgbClr val="F0A500"/>
            </a:solidFill>
            <a:prstDash val="solid"/>
          </a:ln>
        </p:spPr>
      </p:sp>
      <p:sp>
        <p:nvSpPr>
          <p:cNvPr id="10" name="Text 8"/>
          <p:cNvSpPr txBox="1"/>
          <p:nvPr/>
        </p:nvSpPr>
        <p:spPr>
          <a:xfrm>
            <a:off x="822960" y="4160520"/>
            <a:ext cx="10424160" cy="777240"/>
          </a:xfrm>
          <a:prstGeom prst="rect">
            <a:avLst/>
          </a:prstGeom>
          <a:noFill/>
          <a:ln/>
        </p:spPr>
        <p:txBody>
          <a:bodyPr wrap="square" lIns="0" tIns="0" rIns="0" bIns="0" rtlCol="0" anchor="ctr"/>
          <a:lstStyle/>
          <a:p>
            <a:pPr indent="0" marL="0">
              <a:buNone/>
            </a:pPr>
            <a:r>
              <a:rPr lang="en-US" sz="1600" b="1" dirty="0">
                <a:solidFill>
                  <a:schemeClr val="accent2"/>
                </a:solidFill>
                <a:latin typeface="Calibri" pitchFamily="34" charset="0"/>
                <a:ea typeface="Calibri" pitchFamily="34" charset="-122"/>
                <a:cs typeface="Calibri" pitchFamily="34" charset="-120"/>
              </a:rPr>
              <a:t>Deliberately narrow: </a:t>
            </a:r>
            <a:pPr indent="0" marL="0">
              <a:buNone/>
            </a:pPr>
            <a:r>
              <a:rPr lang="en-US" sz="16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600" dirty="0"/>
          </a:p>
        </p:txBody>
      </p:sp>
      <p:sp>
        <p:nvSpPr>
          <p:cNvPr id="11" name="Shape 9"/>
          <p:cNvSpPr/>
          <p:nvPr/>
        </p:nvSpPr>
        <p:spPr>
          <a:xfrm>
            <a:off x="548640" y="5074920"/>
            <a:ext cx="10972800" cy="1325880"/>
          </a:xfrm>
          <a:prstGeom prst="roundRect">
            <a:avLst>
              <a:gd name="adj" fmla="val 5517"/>
            </a:avLst>
          </a:prstGeom>
          <a:solidFill>
            <a:srgbClr val="161B22"/>
          </a:solidFill>
          <a:ln w="12700">
            <a:solidFill>
              <a:srgbClr val="8B949E"/>
            </a:solidFill>
            <a:prstDash val="dash"/>
          </a:ln>
          <a:effectLst>
            <a:outerShdw sx="100000" sy="100000" kx="0" ky="0" algn="bl" rotWithShape="0" blurRad="76200" dist="38100" dir="5400000">
              <a:srgbClr val="000000">
                <a:alpha val="40000"/>
              </a:srgbClr>
            </a:outerShdw>
          </a:effectLst>
        </p:spPr>
      </p:sp>
      <p:sp>
        <p:nvSpPr>
          <p:cNvPr id="12" name="Shape 10"/>
          <p:cNvSpPr/>
          <p:nvPr/>
        </p:nvSpPr>
        <p:spPr>
          <a:xfrm>
            <a:off x="749808" y="5257800"/>
            <a:ext cx="128016" cy="128016"/>
          </a:xfrm>
          <a:prstGeom prst="ellipse">
            <a:avLst/>
          </a:prstGeom>
          <a:solidFill>
            <a:srgbClr val="F85149"/>
          </a:solidFill>
          <a:ln/>
        </p:spPr>
      </p:sp>
      <p:sp>
        <p:nvSpPr>
          <p:cNvPr id="13" name="Shape 11"/>
          <p:cNvSpPr/>
          <p:nvPr/>
        </p:nvSpPr>
        <p:spPr>
          <a:xfrm>
            <a:off x="987552" y="5257800"/>
            <a:ext cx="128016" cy="128016"/>
          </a:xfrm>
          <a:prstGeom prst="ellipse">
            <a:avLst/>
          </a:prstGeom>
          <a:solidFill>
            <a:srgbClr val="F0A500"/>
          </a:solidFill>
          <a:ln/>
        </p:spPr>
      </p:sp>
      <p:sp>
        <p:nvSpPr>
          <p:cNvPr id="14" name="Shape 12"/>
          <p:cNvSpPr/>
          <p:nvPr/>
        </p:nvSpPr>
        <p:spPr>
          <a:xfrm>
            <a:off x="1225296" y="5257800"/>
            <a:ext cx="128016" cy="128016"/>
          </a:xfrm>
          <a:prstGeom prst="ellipse">
            <a:avLst/>
          </a:prstGeom>
          <a:solidFill>
            <a:srgbClr val="3FB950"/>
          </a:solidFill>
          <a:ln/>
        </p:spPr>
      </p:sp>
      <p:sp>
        <p:nvSpPr>
          <p:cNvPr id="15" name="Text 13"/>
          <p:cNvSpPr txBox="1"/>
          <p:nvPr/>
        </p:nvSpPr>
        <p:spPr>
          <a:xfrm>
            <a:off x="914400" y="5623560"/>
            <a:ext cx="10241280" cy="411480"/>
          </a:xfrm>
          <a:prstGeom prst="rect">
            <a:avLst/>
          </a:prstGeom>
          <a:noFill/>
          <a:ln/>
        </p:spPr>
        <p:txBody>
          <a:bodyPr wrap="square" lIns="0" tIns="0" rIns="0" bIns="0" rtlCol="0" anchor="ctr"/>
          <a:lstStyle/>
          <a:p>
            <a:pPr algn="ctr" indent="0" marL="0">
              <a:buNone/>
            </a:pPr>
            <a:r>
              <a:rPr lang="en-US" sz="1600" i="1" dirty="0">
                <a:solidFill>
                  <a:schemeClr val="bg2"/>
                </a:solidFill>
                <a:latin typeface="Courier New" pitchFamily="34" charset="0"/>
                <a:ea typeface="Courier New" pitchFamily="34" charset="-122"/>
                <a:cs typeface="Courier New" pitchFamily="34" charset="-120"/>
              </a:rPr>
              <a:t>[ placeholder — terminal capture: the safety gate catching a destructive</a:t>
            </a:r>
            <a:endParaRPr lang="en-US" sz="1600" dirty="0"/>
          </a:p>
          <a:p>
            <a:pPr algn="ctr" indent="0" marL="0">
              <a:buNone/>
            </a:pPr>
            <a:r>
              <a:rPr lang="en-US" sz="1600" i="1" dirty="0">
                <a:solidFill>
                  <a:schemeClr val="bg2"/>
                </a:solidFill>
                <a:latin typeface="Courier New" pitchFamily="34" charset="0"/>
                <a:ea typeface="Courier New" pitchFamily="34" charset="-122"/>
                <a:cs typeface="Courier New" pitchFamily="34" charset="-120"/>
              </a:rPr>
              <a:t>command and asking for confirmation before it runs ]</a:t>
            </a:r>
            <a:endParaRPr lang="en-US" sz="1600" dirty="0"/>
          </a:p>
        </p:txBody>
      </p:sp>
      <p:sp>
        <p:nvSpPr>
          <p:cNvPr id="1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161B22"/>
          </a:solidFill>
          <a:ln w="15240">
            <a:solidFill>
              <a:srgbClr val="3FB950"/>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3FB950"/>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161B22"/>
          </a:solidFill>
          <a:ln w="15240">
            <a:solidFill>
              <a:srgbClr val="58A6FF"/>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58A6FF"/>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Pending IRB / ethics approval</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161B22"/>
          </a:solidFill>
          <a:ln w="15240">
            <a:solidFill>
              <a:srgbClr val="F0A5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GUI-mode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A reorder of priority, not of ambition.</a:t>
            </a:r>
            <a:endParaRPr lang="en-US" sz="18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161B22"/>
          </a:solidFill>
          <a:ln/>
        </p:spPr>
      </p:sp>
      <p:sp>
        <p:nvSpPr>
          <p:cNvPr id="4" name="Shape 2"/>
          <p:cNvSpPr/>
          <p:nvPr/>
        </p:nvSpPr>
        <p:spPr>
          <a:xfrm>
            <a:off x="868680" y="2231136"/>
            <a:ext cx="237744" cy="237744"/>
          </a:xfrm>
          <a:prstGeom prst="ellipse">
            <a:avLst/>
          </a:prstGeom>
          <a:solidFill>
            <a:srgbClr val="3FB950"/>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161B22"/>
          </a:solidFill>
          <a:ln/>
        </p:spPr>
      </p:sp>
      <p:sp>
        <p:nvSpPr>
          <p:cNvPr id="8" name="Shape 6"/>
          <p:cNvSpPr/>
          <p:nvPr/>
        </p:nvSpPr>
        <p:spPr>
          <a:xfrm>
            <a:off x="868680" y="3602736"/>
            <a:ext cx="237744" cy="237744"/>
          </a:xfrm>
          <a:prstGeom prst="ellipse">
            <a:avLst/>
          </a:prstGeom>
          <a:solidFill>
            <a:srgbClr val="F0A5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Build — runtime &amp; GUI session launch</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161B22"/>
          </a:solidFill>
          <a:ln/>
        </p:spPr>
      </p:sp>
      <p:sp>
        <p:nvSpPr>
          <p:cNvPr id="12" name="Shape 10"/>
          <p:cNvSpPr/>
          <p:nvPr/>
        </p:nvSpPr>
        <p:spPr>
          <a:xfrm>
            <a:off x="868680" y="4974336"/>
            <a:ext cx="237744" cy="237744"/>
          </a:xfrm>
          <a:prstGeom prst="ellipse">
            <a:avLst/>
          </a:prstGeom>
          <a:solidFill>
            <a:srgbClr val="F85149"/>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Ethics / IRB</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Instruments drafted; application not yet submitted</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161B22"/>
          </a:solidFill>
          <a:ln w="16510">
            <a:solidFill>
              <a:srgbClr val="F0A5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161B22"/>
          </a:solidFill>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3FB950"/>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161B22"/>
          </a:solidFill>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58A6FF"/>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161B22"/>
          </a:solidFill>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F0A5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Questions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Thank you.</a:t>
            </a:r>
            <a:endParaRPr lang="en-US" sz="2200" dirty="0"/>
          </a:p>
        </p:txBody>
      </p:sp>
    </p:spTree>
  </p:cSld>
  <p:clrMapOvr>
    <a:masterClrMapping/>
  </p:clrMapOvr>
</p:sld>
</file>

<file path=ppt/theme/theme1.xml><?xml version="1.0" encoding="utf-8"?>
<a:theme xmlns:a="http://schemas.openxmlformats.org/drawingml/2006/main" name="SynapseOS Terminal">
  <a:themeElements>
    <a:clrScheme name="SynapseOS Terminal">
      <a:dk1>
        <a:srgbClr val="0D1117"/>
      </a:dk1>
      <a:lt1>
        <a:srgbClr val="C9D1D9"/>
      </a:lt1>
      <a:dk2>
        <a:srgbClr val="161B22"/>
      </a:dk2>
      <a:lt2>
        <a:srgbClr val="8B949E"/>
      </a:lt2>
      <a:accent1>
        <a:srgbClr val="3FB950"/>
      </a:accent1>
      <a:accent2>
        <a:srgbClr val="F0A500"/>
      </a:accent2>
      <a:accent3>
        <a:srgbClr val="58A6FF"/>
      </a:accent3>
      <a:accent4>
        <a:srgbClr val="F85149"/>
      </a:accent4>
      <a:accent5>
        <a:srgbClr val="8B949E"/>
      </a:accent5>
      <a:accent6>
        <a:srgbClr val="C9D1D9"/>
      </a:accent6>
      <a:hlink>
        <a:srgbClr val="58A6FF"/>
      </a:hlink>
      <a:folHlink>
        <a:srgbClr val="8B949E"/>
      </a:folHlink>
    </a:clrScheme>
    <a:fontScheme name="SynapseOS Terminal">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2026-10-07T12:19:17Z</dcterms:created>
  <dcterms:modified xsi:type="dcterms:W3CDTF">2026-10-07T12:19:17Z</dcterms:modified>
</cp:coreProperties>
</file>