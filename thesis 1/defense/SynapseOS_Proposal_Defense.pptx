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C9D1D9"/>
                </a:solidFill>
                <a:latin typeface="+mn-lt"/>
              </a:defRPr>
            </a:pPr>
            <a:r>
              <a:rPr sz="1500" b="0" i="0" u="none" strike="noStrike">
                <a:solidFill>
                  <a:srgbClr val="C9D1D9"/>
                </a:solidFill>
                <a:latin typeface="+mn-lt"/>
              </a:rPr>
              <a:t>Lower is better — held-out corpus, 777 commands (round 7)</a:t>
            </a:r>
          </a:p>
        </c:rich>
      </c:tx>
      <c:layout/>
      <c:overlay val="0"/>
    </c:title>
    <c:autoTitleDeleted val="0"/>
    <c:plotArea>
      <c:layout/>
      <c:barChart>
        <c:barDir val="col"/>
        <c:grouping val="clustered"/>
        <c:varyColors val="0"/>
        <c:ser>
          <c:idx val="0"/>
          <c:order val="0"/>
          <c:tx>
            <c:strRef>
              <c:f>Sheet1!$B$1</c:f>
              <c:strCache>
                <c:ptCount val="1"/>
                <c:pt idx="0">
                  <c:v>Silent data loss (%)</c:v>
                </c:pt>
              </c:strCache>
            </c:strRef>
          </c:tx>
          <c:spPr>
            <a:solidFill>
              <a:srgbClr val="F85149"/>
            </a:solidFill>
            <a:effectLst/>
          </c:spPr>
          <c:invertIfNegative val="0"/>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dPt>
            <c:idx val="0"/>
            <c:invertIfNegative val="0"/>
            <c:bubble3D val="0"/>
            <c:spPr>
              <a:solidFill>
                <a:srgbClr val="F85149"/>
              </a:solidFill>
              <a:effectLst/>
            </c:spPr>
          </c:dPt>
          <c:dPt>
            <c:idx val="1"/>
            <c:invertIfNegative val="0"/>
            <c:bubble3D val="0"/>
            <c:spPr>
              <a:solidFill>
                <a:srgbClr val="3FB950"/>
              </a:solidFill>
              <a:effectLst/>
            </c:spPr>
          </c:dPt>
          <c:dPt>
            <c:idx val="2"/>
            <c:invertIfNegative val="0"/>
            <c:bubble3D val="0"/>
            <c:spPr>
              <a:solidFill>
                <a:srgbClr val="3FB950"/>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41.2</c:v>
                </c:pt>
                <c:pt idx="1">
                  <c:v>0</c:v>
                </c:pt>
                <c:pt idx="2">
                  <c:v>0</c:v>
                </c:pt>
              </c:numCache>
            </c:numRef>
          </c:val>
        </c:ser>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2"/>
        <c:crosses val="autoZero"/>
        <c:auto val="1"/>
        <c:lblAlgn val="ctr"/>
        <c:noMultiLvlLbl val="1"/>
      </c:catAx>
      <c:valAx>
        <c:axId val="2094734552"/>
        <c:scaling>
          <c:orientation val="minMax"/>
          <c:max val="50"/>
        </c:scaling>
        <c:delete val="0"/>
        <c:axPos val="l"/>
        <c:majorGridlines>
          <c:spPr>
            <a:ln w="12700" cap="flat">
              <a:solidFill>
                <a:srgbClr val="161B2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C9D1D9"/>
                </a:solidFill>
                <a:latin typeface="+mn-lt"/>
              </a:defRPr>
            </a:pPr>
            <a:r>
              <a:rPr sz="1500" b="0" i="0" u="none" strike="noStrike">
                <a:solidFill>
                  <a:srgbClr val="C9D1D9"/>
                </a:solidFill>
                <a:latin typeface="+mn-lt"/>
              </a:rPr>
              <a:t>Higher is better — of the 325 executable losses</a:t>
            </a:r>
          </a:p>
        </c:rich>
      </c:tx>
      <c:layout/>
      <c:overlay val="0"/>
    </c:title>
    <c:autoTitleDeleted val="0"/>
    <c:plotArea>
      <c:layout/>
      <c:barChart>
        <c:barDir val="col"/>
        <c:grouping val="clustered"/>
        <c:varyColors val="0"/>
        <c:ser>
          <c:idx val="0"/>
          <c:order val="0"/>
          <c:tx>
            <c:strRef>
              <c:f>Sheet1!$B$1</c:f>
              <c:strCache>
                <c:ptCount val="1"/>
                <c:pt idx="0">
                  <c:v>Restoration coverage (%)</c:v>
                </c:pt>
              </c:strCache>
            </c:strRef>
          </c:tx>
          <c:spPr>
            <a:solidFill>
              <a:srgbClr val="8B949E"/>
            </a:solidFill>
            <a:effectLst/>
          </c:spPr>
          <c:invertIfNegative val="0"/>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dPt>
            <c:idx val="0"/>
            <c:invertIfNegative val="0"/>
            <c:bubble3D val="0"/>
            <c:spPr>
              <a:solidFill>
                <a:srgbClr val="8B949E"/>
              </a:solidFill>
              <a:effectLst/>
            </c:spPr>
          </c:dPt>
          <c:dPt>
            <c:idx val="1"/>
            <c:invertIfNegative val="0"/>
            <c:bubble3D val="0"/>
            <c:spPr>
              <a:solidFill>
                <a:srgbClr val="8B949E"/>
              </a:solidFill>
              <a:effectLst/>
            </c:spPr>
          </c:dPt>
          <c:dPt>
            <c:idx val="2"/>
            <c:invertIfNegative val="0"/>
            <c:bubble3D val="0"/>
            <c:spPr>
              <a:solidFill>
                <a:srgbClr val="3FB950"/>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41.5</c:v>
                </c:pt>
                <c:pt idx="1">
                  <c:v>0</c:v>
                </c:pt>
                <c:pt idx="2">
                  <c:v>89.5</c:v>
                </c:pt>
              </c:numCache>
            </c:numRef>
          </c:val>
        </c:ser>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12700" cap="flat">
              <a:solidFill>
                <a:srgbClr val="161B2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We're presenting our Thesis 1 proposal for SynapseOS — software that lets someone control a computer by typing plain English instead of memorized commands. This is a proposal defense, so we're presenting our plan, not final results — the comparison study with real users hasn't run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line can do almost anything, but only if you know the right words to type. A graphical desktop is easier, but limits you to the buttons someone else thought to add. Nobody has yet built and tested a system that lets you control a whole desktop just by talking to it normally — that's the gap we're filling.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problem statement, on screen, in one line: what a computer can actually do for you depends on which interface you already know how to use. Our goal is a third option, ordinary language, that closes that gap for people regardless of technical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reordered these after an earlier review — our adviser asked whether anything would be left if we removed the chat interface entirely. So we made the safety algorithm its own standalone contribution, listed first; the other three questions are about the interface itself, and our user study answers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four-stage flow — understand the request, decide what to do, act on the computer, fit into the existing desktop — comes from our literature review in Chapter 2. SynapseOS follows this same flow, and the safety algorithm we'll discuss next lives in the 'acting' stage, right before anything actually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will show a real recording once we finish capturing and checking it — someone typing a plain request, the command SynapseOS generates, a safety check, and the result. We're showing this early to make one thing clear: this already works today, it isn't just a plan on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 AI types commands for you, it might accidentally delete something important before anyone notices. Today's safety check just looks at whether a command looks familiar, not at what it actually does. That leaves two bad options: let unfamiliar commands through and risk damage, or block everything unfamiliar and interrupt the user constantly. We want a third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algorithm does two things, deliberately, and nothing more. First, it can see through common tricks for hiding what a command really does — loops, shortcuts, chaining several commands together. Second, when it can't know a command's target until the moment it runs, it does a safe test run first to find out exactly what would be affected. If a command is too unusual for it to understand, it simply stops and asks — it never guesses.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proving these two halves of our thesis in two separate ways. The safety algorithm is tested against hundreds of sample commands, with no human volunteers needed at all. The interface itself will be tested with 40 real users, once we have ethics approval to run that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several hundred risky commands we tested, today's safety list let data get silently destroyed over 40 percent of the time — damage the user never agreed to. Our algorithm, and a much stricter 'block everything unfamiliar' approach, both brought that down to essentially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safe isn't enough on its own — a system that blocks everything is also 'safe', but useless, because it never actually saves anything. Our algorithm actually recovers the lost data about 9 times out of 10; the overly-cautious approach recovers none of it, because it never even 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compare SynapseOS against whatever operating system each participant already uses every day. We're deliberately recruiting two kinds of users — people comfortable with neither the command line nor a typical desktop, and people comfortable with both — because the gap between those two groups is what we actually care about measuring.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on screen is our adviser's own feedback, word for word: manage your scope carefully — fair, given how much ground this thesis covers. Our answer: the safety algorithm and getting the interface running are non-negotiable; fine-tuning the AI model and the full user study are real plans, but the first things we'd trim if we run short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work is basically finished. The interface build is underway. The real bottleneck is ethics approval — our paperwork is ready, but not yet submitted, so that's our top priority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a question our adviser already put to us, in an earlier review, and we're putting it on screen ourselves rather than waiting for it to be asked again. Right now we can only answer it in words, not numbers — but we already have a concrete plan to measure it directly, and we're not hiding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both halves of this project succeed, we'll have two separate wins: a safer, more useful way to catch dangerous commands, and, pending approval, the first real evidence on whether talking to a computer actually helps people who struggle with existing interfaces. Each one holds up on its own even if the other gets delayed.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this proposal is approved, three things happen next: we submit for ethics approval, finish building the interface, and run the full study with real participants. The next time we present, we'll be showing actual results instead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D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lstStyle>
            <a:lvl1pPr algn="l" indent="0" marL="0">
              <a:buNone/>
              <a:defRPr lang="en-US" sz="4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lstStyle>
            <a:lvl1pPr algn="l" indent="0" marL="0">
              <a:buNone/>
              <a:defRPr lang="en-US" sz="2200" dirty="0">
                <a:solidFill>
                  <a:schemeClr val="bg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D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lstStyle>
            <a:lvl1pPr algn="l" indent="0" marL="0">
              <a:buNone/>
              <a:defRPr lang="en-US" sz="1900" dirty="0">
                <a:solidFill>
                  <a:schemeClr val="bg1"/>
                </a:solidFill>
                <a:latin typeface="Calibri" pitchFamily="34" charset="0"/>
                <a:ea typeface="Calibri" pitchFamily="34" charset="-122"/>
                <a:cs typeface="Calibri" pitchFamily="34" charset="-120"/>
              </a:defRPr>
            </a:lvl1pPr>
          </a:lstStyle>
          <a:p>
            <a:pPr algn="l" indent="0" marL="0">
              <a:buNone/>
            </a:pPr>
            <a:endParaRPr lang="en-US" sz="1900" dirty="0"/>
          </a:p>
        </p:txBody>
      </p:sp>
      <p:sp>
        <p:nvSpPr>
          <p:cNvPr id="4"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HART">
    <p:bg>
      <p:bgPr>
        <a:solidFill>
          <a:srgbClr val="0D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SynapseOS</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2200" dirty="0">
                <a:solidFill>
                  <a:schemeClr val="bg1"/>
                </a:solidFill>
                <a:latin typeface="Calibri" pitchFamily="34" charset="0"/>
                <a:ea typeface="Calibri" pitchFamily="34" charset="-122"/>
                <a:cs typeface="Calibri" pitchFamily="34" charset="-120"/>
              </a:rPr>
              <a:t>Designing a Conversational Interface Layer for Personal Computing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Thesis 1 Proposal Defense — Chapters 1–3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Alexandra Sulit · Willard Soriano · Steven Evian Lozano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Department of Computer Science, Mapúa University – Makati</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Gap</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Command line — full capability, syntax barrier</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Graphical desktop — limited to what designers anticipated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LLMs reopen the thread (Berkeley UNIX Consultant, 1988) with far greater capability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Missing: an implemented, evaluated system for the whole desktop session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Problem Statement</a:t>
            </a:r>
            <a:endParaRPr lang="en-US" sz="3400" dirty="0"/>
          </a:p>
        </p:txBody>
      </p:sp>
      <p:sp>
        <p:nvSpPr>
          <p:cNvPr id="3" name="Shape 1"/>
          <p:cNvSpPr/>
          <p:nvPr/>
        </p:nvSpPr>
        <p:spPr>
          <a:xfrm>
            <a:off x="1188720" y="2377440"/>
            <a:ext cx="9784080" cy="1828800"/>
          </a:xfrm>
          <a:prstGeom prst="roundRect">
            <a:avLst>
              <a:gd name="adj" fmla="val 5000"/>
            </a:avLst>
          </a:prstGeom>
          <a:solidFill>
            <a:srgbClr val="161B22"/>
          </a:solidFill>
          <a:ln w="12700">
            <a:solidFill>
              <a:srgbClr val="3FB950"/>
            </a:solidFill>
            <a:prstDash val="solid"/>
          </a:ln>
        </p:spPr>
      </p:sp>
      <p:sp>
        <p:nvSpPr>
          <p:cNvPr id="4" name="Text 2"/>
          <p:cNvSpPr txBox="1"/>
          <p:nvPr/>
        </p:nvSpPr>
        <p:spPr>
          <a:xfrm>
            <a:off x="1554480" y="2377440"/>
            <a:ext cx="9052560" cy="1828800"/>
          </a:xfrm>
          <a:prstGeom prst="rect">
            <a:avLst/>
          </a:prstGeom>
          <a:noFill/>
          <a:ln/>
        </p:spPr>
        <p:txBody>
          <a:bodyPr wrap="square" lIns="0" tIns="0" rIns="0" bIns="0" rtlCol="0" anchor="ctr"/>
          <a:lstStyle/>
          <a:p>
            <a:pPr algn="l" indent="0" marL="0">
              <a:buNone/>
            </a:pPr>
            <a:r>
              <a:rPr lang="en-US" sz="2400" i="1" dirty="0">
                <a:solidFill>
                  <a:schemeClr val="bg1"/>
                </a:solidFill>
                <a:latin typeface="Calibri" pitchFamily="34" charset="0"/>
                <a:ea typeface="Calibri" pitchFamily="34" charset="-122"/>
                <a:cs typeface="Calibri" pitchFamily="34" charset="-120"/>
              </a:rPr>
              <a:t>Computer capability is unevenly reachable — gated by which interface a person is fluent in.</a:t>
            </a:r>
            <a:endParaRPr lang="en-US" sz="2400" dirty="0"/>
          </a:p>
        </p:txBody>
      </p:sp>
      <p:sp>
        <p:nvSpPr>
          <p:cNvPr id="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Research Questions</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RQ1 — Predict a command's effects before it runs; capture enough to undo it; beat a pattern list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RQ2 — Direct a full desktop in ordinary language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RQ3 — Confirm and recover from mistakes, including ones the user approved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RQ4 — Narrow the fluency gap between CLI and GUI non-experts</a:t>
            </a:r>
            <a:endParaRPr lang="en-US" sz="1900" dirty="0"/>
          </a:p>
        </p:txBody>
      </p:sp>
      <p:sp>
        <p:nvSpPr>
          <p:cNvPr id="4" name="Shape 2"/>
          <p:cNvSpPr/>
          <p:nvPr/>
        </p:nvSpPr>
        <p:spPr>
          <a:xfrm>
            <a:off x="548640" y="5715000"/>
            <a:ext cx="11064240" cy="685800"/>
          </a:xfrm>
          <a:prstGeom prst="roundRect">
            <a:avLst>
              <a:gd name="adj" fmla="val 8000"/>
            </a:avLst>
          </a:prstGeom>
          <a:solidFill>
            <a:srgbClr val="161B22"/>
          </a:solidFill>
          <a:ln/>
        </p:spPr>
      </p:sp>
      <p:sp>
        <p:nvSpPr>
          <p:cNvPr id="5" name="Text 3"/>
          <p:cNvSpPr txBox="1"/>
          <p:nvPr/>
        </p:nvSpPr>
        <p:spPr>
          <a:xfrm>
            <a:off x="822960" y="5715000"/>
            <a:ext cx="10515600" cy="68580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RQ1 leads on purpose </a:t>
            </a:r>
            <a:pPr indent="0" marL="0">
              <a:buNone/>
            </a:pPr>
            <a:r>
              <a:rPr lang="en-US" sz="1500" dirty="0">
                <a:solidFill>
                  <a:schemeClr val="bg2"/>
                </a:solidFill>
                <a:latin typeface="Calibri" pitchFamily="34" charset="0"/>
                <a:ea typeface="Calibri" pitchFamily="34" charset="-122"/>
                <a:cs typeface="Calibri" pitchFamily="34" charset="-120"/>
              </a:rPr>
              <a:t>— two independent contributions, not one subordinate to the other.</a:t>
            </a:r>
            <a:endParaRPr lang="en-US" sz="15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Conceptual Framework</a:t>
            </a:r>
            <a:endParaRPr lang="en-US" sz="3400" dirty="0"/>
          </a:p>
        </p:txBody>
      </p:sp>
      <p:sp>
        <p:nvSpPr>
          <p:cNvPr id="3" name="Text 1"/>
          <p:cNvSpPr txBox="1"/>
          <p:nvPr/>
        </p:nvSpPr>
        <p:spPr>
          <a:xfrm>
            <a:off x="548640" y="1463040"/>
            <a:ext cx="11064240" cy="502920"/>
          </a:xfrm>
          <a:prstGeom prst="rect">
            <a:avLst/>
          </a:prstGeom>
          <a:noFill/>
          <a:ln/>
        </p:spPr>
        <p:txBody>
          <a:bodyPr wrap="square" lIns="0" tIns="0" rIns="0" bIns="0" rtlCol="0" anchor="ctr"/>
          <a:lstStyle/>
          <a:p>
            <a:pPr indent="0" marL="0">
              <a:buNone/>
            </a:pPr>
            <a:r>
              <a:rPr lang="en-US" sz="1800" dirty="0">
                <a:solidFill>
                  <a:schemeClr val="bg2"/>
                </a:solidFill>
                <a:latin typeface="Calibri" pitchFamily="34" charset="0"/>
                <a:ea typeface="Calibri" pitchFamily="34" charset="-122"/>
                <a:cs typeface="Calibri" pitchFamily="34" charset="-120"/>
              </a:rPr>
              <a:t>Four-layer pipeline, from Chapter 2's literature review:</a:t>
            </a:r>
            <a:endParaRPr lang="en-US" sz="1800" dirty="0"/>
          </a:p>
        </p:txBody>
      </p:sp>
      <p:sp>
        <p:nvSpPr>
          <p:cNvPr id="4" name="Shape 2"/>
          <p:cNvSpPr/>
          <p:nvPr/>
        </p:nvSpPr>
        <p:spPr>
          <a:xfrm>
            <a:off x="640080" y="2331720"/>
            <a:ext cx="2423160" cy="2103120"/>
          </a:xfrm>
          <a:prstGeom prst="roundRect">
            <a:avLst>
              <a:gd name="adj" fmla="val 3478"/>
            </a:avLst>
          </a:prstGeom>
          <a:solidFill>
            <a:srgbClr val="161B22"/>
          </a:solidFill>
          <a:ln w="19050">
            <a:solidFill>
              <a:srgbClr val="58A6FF"/>
            </a:solidFill>
            <a:prstDash val="solid"/>
          </a:ln>
        </p:spPr>
      </p:sp>
      <p:sp>
        <p:nvSpPr>
          <p:cNvPr id="5" name="Text 3"/>
          <p:cNvSpPr txBox="1"/>
          <p:nvPr/>
        </p:nvSpPr>
        <p:spPr>
          <a:xfrm>
            <a:off x="640080" y="2441448"/>
            <a:ext cx="2423160" cy="502920"/>
          </a:xfrm>
          <a:prstGeom prst="rect">
            <a:avLst/>
          </a:prstGeom>
          <a:noFill/>
          <a:ln/>
        </p:spPr>
        <p:txBody>
          <a:bodyPr wrap="square" lIns="0" tIns="0" rIns="0" bIns="0" rtlCol="0" anchor="ctr"/>
          <a:lstStyle/>
          <a:p>
            <a:pPr algn="ctr" indent="0" marL="0">
              <a:buNone/>
            </a:pPr>
            <a:r>
              <a:rPr lang="en-US" sz="1700" b="1" dirty="0">
                <a:solidFill>
                  <a:srgbClr val="58A6FF"/>
                </a:solidFill>
                <a:latin typeface="Courier New" pitchFamily="34" charset="0"/>
                <a:ea typeface="Courier New" pitchFamily="34" charset="-122"/>
                <a:cs typeface="Courier New" pitchFamily="34" charset="-120"/>
              </a:rPr>
              <a:t>INPUT</a:t>
            </a:r>
            <a:endParaRPr lang="en-US" sz="1700" dirty="0"/>
          </a:p>
        </p:txBody>
      </p:sp>
      <p:sp>
        <p:nvSpPr>
          <p:cNvPr id="6" name="Text 4"/>
          <p:cNvSpPr txBox="1"/>
          <p:nvPr/>
        </p:nvSpPr>
        <p:spPr>
          <a:xfrm>
            <a:off x="74980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Intent arrives as text (or speech/gesture)</a:t>
            </a:r>
            <a:endParaRPr lang="en-US" sz="1300" dirty="0"/>
          </a:p>
        </p:txBody>
      </p:sp>
      <p:sp>
        <p:nvSpPr>
          <p:cNvPr id="7" name="Text 5"/>
          <p:cNvSpPr txBox="1"/>
          <p:nvPr/>
        </p:nvSpPr>
        <p:spPr>
          <a:xfrm>
            <a:off x="306324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8" name="Shape 6"/>
          <p:cNvSpPr/>
          <p:nvPr/>
        </p:nvSpPr>
        <p:spPr>
          <a:xfrm>
            <a:off x="3566160" y="2331720"/>
            <a:ext cx="2423160" cy="2103120"/>
          </a:xfrm>
          <a:prstGeom prst="roundRect">
            <a:avLst>
              <a:gd name="adj" fmla="val 3478"/>
            </a:avLst>
          </a:prstGeom>
          <a:solidFill>
            <a:srgbClr val="161B22"/>
          </a:solidFill>
          <a:ln w="19050">
            <a:solidFill>
              <a:srgbClr val="3FB950"/>
            </a:solidFill>
            <a:prstDash val="solid"/>
          </a:ln>
        </p:spPr>
      </p:sp>
      <p:sp>
        <p:nvSpPr>
          <p:cNvPr id="9" name="Text 7"/>
          <p:cNvSpPr txBox="1"/>
          <p:nvPr/>
        </p:nvSpPr>
        <p:spPr>
          <a:xfrm>
            <a:off x="3566160" y="2441448"/>
            <a:ext cx="2423160" cy="502920"/>
          </a:xfrm>
          <a:prstGeom prst="rect">
            <a:avLst/>
          </a:prstGeom>
          <a:noFill/>
          <a:ln/>
        </p:spPr>
        <p:txBody>
          <a:bodyPr wrap="square" lIns="0" tIns="0" rIns="0" bIns="0" rtlCol="0" anchor="ctr"/>
          <a:lstStyle/>
          <a:p>
            <a:pPr algn="ctr" indent="0" marL="0">
              <a:buNone/>
            </a:pPr>
            <a:r>
              <a:rPr lang="en-US" sz="1700" b="1" dirty="0">
                <a:solidFill>
                  <a:srgbClr val="3FB950"/>
                </a:solidFill>
                <a:latin typeface="Courier New" pitchFamily="34" charset="0"/>
                <a:ea typeface="Courier New" pitchFamily="34" charset="-122"/>
                <a:cs typeface="Courier New" pitchFamily="34" charset="-120"/>
              </a:rPr>
              <a:t>REASONING</a:t>
            </a:r>
            <a:endParaRPr lang="en-US" sz="1700" dirty="0"/>
          </a:p>
        </p:txBody>
      </p:sp>
      <p:sp>
        <p:nvSpPr>
          <p:cNvPr id="10" name="Text 8"/>
          <p:cNvSpPr txBox="1"/>
          <p:nvPr/>
        </p:nvSpPr>
        <p:spPr>
          <a:xfrm>
            <a:off x="367588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Locally-hosted small language model parses intent</a:t>
            </a:r>
            <a:endParaRPr lang="en-US" sz="1300" dirty="0"/>
          </a:p>
        </p:txBody>
      </p:sp>
      <p:sp>
        <p:nvSpPr>
          <p:cNvPr id="11" name="Text 9"/>
          <p:cNvSpPr txBox="1"/>
          <p:nvPr/>
        </p:nvSpPr>
        <p:spPr>
          <a:xfrm>
            <a:off x="598932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2" name="Shape 10"/>
          <p:cNvSpPr/>
          <p:nvPr/>
        </p:nvSpPr>
        <p:spPr>
          <a:xfrm>
            <a:off x="6492240" y="2331720"/>
            <a:ext cx="2423160" cy="2103120"/>
          </a:xfrm>
          <a:prstGeom prst="roundRect">
            <a:avLst>
              <a:gd name="adj" fmla="val 3478"/>
            </a:avLst>
          </a:prstGeom>
          <a:solidFill>
            <a:srgbClr val="161B22"/>
          </a:solidFill>
          <a:ln w="19050">
            <a:solidFill>
              <a:srgbClr val="F0A500"/>
            </a:solidFill>
            <a:prstDash val="solid"/>
          </a:ln>
        </p:spPr>
      </p:sp>
      <p:sp>
        <p:nvSpPr>
          <p:cNvPr id="13" name="Text 11"/>
          <p:cNvSpPr txBox="1"/>
          <p:nvPr/>
        </p:nvSpPr>
        <p:spPr>
          <a:xfrm>
            <a:off x="6492240" y="2441448"/>
            <a:ext cx="2423160" cy="502920"/>
          </a:xfrm>
          <a:prstGeom prst="rect">
            <a:avLst/>
          </a:prstGeom>
          <a:noFill/>
          <a:ln/>
        </p:spPr>
        <p:txBody>
          <a:bodyPr wrap="square" lIns="0" tIns="0" rIns="0" bIns="0" rtlCol="0" anchor="ctr"/>
          <a:lstStyle/>
          <a:p>
            <a:pPr algn="ctr" indent="0" marL="0">
              <a:buNone/>
            </a:pPr>
            <a:r>
              <a:rPr lang="en-US" sz="1700" b="1" dirty="0">
                <a:solidFill>
                  <a:srgbClr val="F0A500"/>
                </a:solidFill>
                <a:latin typeface="Courier New" pitchFamily="34" charset="0"/>
                <a:ea typeface="Courier New" pitchFamily="34" charset="-122"/>
                <a:cs typeface="Courier New" pitchFamily="34" charset="-120"/>
              </a:rPr>
              <a:t>ACTION</a:t>
            </a:r>
            <a:endParaRPr lang="en-US" sz="1700" dirty="0"/>
          </a:p>
        </p:txBody>
      </p:sp>
      <p:sp>
        <p:nvSpPr>
          <p:cNvPr id="14" name="Text 12"/>
          <p:cNvSpPr txBox="1"/>
          <p:nvPr/>
        </p:nvSpPr>
        <p:spPr>
          <a:xfrm>
            <a:off x="660196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Translated into shell commands via the standard toolchain</a:t>
            </a:r>
            <a:endParaRPr lang="en-US" sz="1300" dirty="0"/>
          </a:p>
        </p:txBody>
      </p:sp>
      <p:sp>
        <p:nvSpPr>
          <p:cNvPr id="15" name="Text 13"/>
          <p:cNvSpPr txBox="1"/>
          <p:nvPr/>
        </p:nvSpPr>
        <p:spPr>
          <a:xfrm>
            <a:off x="891540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6" name="Shape 14"/>
          <p:cNvSpPr/>
          <p:nvPr/>
        </p:nvSpPr>
        <p:spPr>
          <a:xfrm>
            <a:off x="9418320" y="2331720"/>
            <a:ext cx="2423160" cy="2103120"/>
          </a:xfrm>
          <a:prstGeom prst="roundRect">
            <a:avLst>
              <a:gd name="adj" fmla="val 3478"/>
            </a:avLst>
          </a:prstGeom>
          <a:solidFill>
            <a:srgbClr val="161B22"/>
          </a:solidFill>
          <a:ln w="19050">
            <a:solidFill>
              <a:srgbClr val="F85149"/>
            </a:solidFill>
            <a:prstDash val="solid"/>
          </a:ln>
        </p:spPr>
      </p:sp>
      <p:sp>
        <p:nvSpPr>
          <p:cNvPr id="17" name="Text 15"/>
          <p:cNvSpPr txBox="1"/>
          <p:nvPr/>
        </p:nvSpPr>
        <p:spPr>
          <a:xfrm>
            <a:off x="9418320" y="2441448"/>
            <a:ext cx="2423160" cy="502920"/>
          </a:xfrm>
          <a:prstGeom prst="rect">
            <a:avLst/>
          </a:prstGeom>
          <a:noFill/>
          <a:ln/>
        </p:spPr>
        <p:txBody>
          <a:bodyPr wrap="square" lIns="0" tIns="0" rIns="0" bIns="0" rtlCol="0" anchor="ctr"/>
          <a:lstStyle/>
          <a:p>
            <a:pPr algn="ctr" indent="0" marL="0">
              <a:buNone/>
            </a:pPr>
            <a:r>
              <a:rPr lang="en-US" sz="1700" b="1" dirty="0">
                <a:solidFill>
                  <a:srgbClr val="F85149"/>
                </a:solidFill>
                <a:latin typeface="Courier New" pitchFamily="34" charset="0"/>
                <a:ea typeface="Courier New" pitchFamily="34" charset="-122"/>
                <a:cs typeface="Courier New" pitchFamily="34" charset="-120"/>
              </a:rPr>
              <a:t>OS INTEGRATION</a:t>
            </a:r>
            <a:endParaRPr lang="en-US" sz="1700" dirty="0"/>
          </a:p>
        </p:txBody>
      </p:sp>
      <p:sp>
        <p:nvSpPr>
          <p:cNvPr id="18" name="Text 16"/>
          <p:cNvSpPr txBox="1"/>
          <p:nvPr/>
        </p:nvSpPr>
        <p:spPr>
          <a:xfrm>
            <a:off x="952804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Spans the full graphical session, not one app</a:t>
            </a:r>
            <a:endParaRPr lang="en-US" sz="1300" dirty="0"/>
          </a:p>
        </p:txBody>
      </p:sp>
      <p:sp>
        <p:nvSpPr>
          <p:cNvPr id="19" name="Text 17"/>
          <p:cNvSpPr txBox="1"/>
          <p:nvPr/>
        </p:nvSpPr>
        <p:spPr>
          <a:xfrm>
            <a:off x="640080" y="4800600"/>
            <a:ext cx="10881360" cy="914400"/>
          </a:xfrm>
          <a:prstGeom prst="rect">
            <a:avLst/>
          </a:prstGeom>
          <a:noFill/>
          <a:ln/>
        </p:spPr>
        <p:txBody>
          <a:bodyPr wrap="square" lIns="0" tIns="0" rIns="0" bIns="0" rtlCol="0" anchor="ctr"/>
          <a:lstStyle/>
          <a:p>
            <a:pPr indent="0" marL="0">
              <a:buNone/>
            </a:pPr>
            <a:r>
              <a:rPr lang="en-US" sz="1800" i="1" dirty="0">
                <a:solidFill>
                  <a:schemeClr val="bg1"/>
                </a:solidFill>
                <a:latin typeface="Calibri" pitchFamily="34" charset="0"/>
                <a:ea typeface="Calibri" pitchFamily="34" charset="-122"/>
                <a:cs typeface="Calibri" pitchFamily="34" charset="-120"/>
              </a:rPr>
              <a:t>SynapseOS instantiates this directly — the algorithm (RQ1) governs the Action layer.</a:t>
            </a:r>
            <a:endParaRPr lang="en-US" sz="1800" dirty="0"/>
          </a:p>
        </p:txBody>
      </p:sp>
      <p:sp>
        <p:nvSpPr>
          <p:cNvPr id="21"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 It Looks Like</a:t>
            </a:r>
            <a:endParaRPr lang="en-US" sz="3400" dirty="0"/>
          </a:p>
        </p:txBody>
      </p:sp>
      <p:sp>
        <p:nvSpPr>
          <p:cNvPr id="3" name="Shape 1"/>
          <p:cNvSpPr/>
          <p:nvPr/>
        </p:nvSpPr>
        <p:spPr>
          <a:xfrm>
            <a:off x="1188720" y="1600200"/>
            <a:ext cx="9784080" cy="4572000"/>
          </a:xfrm>
          <a:prstGeom prst="roundRect">
            <a:avLst>
              <a:gd name="adj" fmla="val 1600"/>
            </a:avLst>
          </a:prstGeom>
          <a:solidFill>
            <a:srgbClr val="161B22"/>
          </a:solidFill>
          <a:ln w="12700">
            <a:solidFill>
              <a:srgbClr val="8B949E"/>
            </a:solidFill>
            <a:prstDash val="dash"/>
          </a:ln>
          <a:effectLst>
            <a:outerShdw sx="100000" sy="100000" kx="0" ky="0" algn="bl" rotWithShape="0" blurRad="76200" dist="38100" dir="5400000">
              <a:srgbClr val="000000">
                <a:alpha val="40000"/>
              </a:srgbClr>
            </a:outerShdw>
          </a:effectLst>
        </p:spPr>
      </p:sp>
      <p:sp>
        <p:nvSpPr>
          <p:cNvPr id="4" name="Shape 2"/>
          <p:cNvSpPr/>
          <p:nvPr/>
        </p:nvSpPr>
        <p:spPr>
          <a:xfrm>
            <a:off x="1389888" y="1783080"/>
            <a:ext cx="128016" cy="128016"/>
          </a:xfrm>
          <a:prstGeom prst="ellipse">
            <a:avLst/>
          </a:prstGeom>
          <a:solidFill>
            <a:srgbClr val="F85149"/>
          </a:solidFill>
          <a:ln/>
        </p:spPr>
      </p:sp>
      <p:sp>
        <p:nvSpPr>
          <p:cNvPr id="5" name="Shape 3"/>
          <p:cNvSpPr/>
          <p:nvPr/>
        </p:nvSpPr>
        <p:spPr>
          <a:xfrm>
            <a:off x="1627632" y="1783080"/>
            <a:ext cx="128016" cy="128016"/>
          </a:xfrm>
          <a:prstGeom prst="ellipse">
            <a:avLst/>
          </a:prstGeom>
          <a:solidFill>
            <a:srgbClr val="F0A500"/>
          </a:solidFill>
          <a:ln/>
        </p:spPr>
      </p:sp>
      <p:sp>
        <p:nvSpPr>
          <p:cNvPr id="6" name="Shape 4"/>
          <p:cNvSpPr/>
          <p:nvPr/>
        </p:nvSpPr>
        <p:spPr>
          <a:xfrm>
            <a:off x="1865376" y="1783080"/>
            <a:ext cx="128016" cy="128016"/>
          </a:xfrm>
          <a:prstGeom prst="ellipse">
            <a:avLst/>
          </a:prstGeom>
          <a:solidFill>
            <a:srgbClr val="3FB950"/>
          </a:solidFill>
          <a:ln/>
        </p:spPr>
      </p:sp>
      <p:sp>
        <p:nvSpPr>
          <p:cNvPr id="7" name="Text 5"/>
          <p:cNvSpPr txBox="1"/>
          <p:nvPr/>
        </p:nvSpPr>
        <p:spPr>
          <a:xfrm>
            <a:off x="1554480" y="2148840"/>
            <a:ext cx="9052560" cy="3657600"/>
          </a:xfrm>
          <a:prstGeom prst="rect">
            <a:avLst/>
          </a:prstGeom>
          <a:noFill/>
          <a:ln/>
        </p:spPr>
        <p:txBody>
          <a:bodyPr wrap="square" lIns="0" tIns="0" rIns="0" bIns="0" rtlCol="0" anchor="ctr"/>
          <a:lstStyle/>
          <a:p>
            <a:pPr algn="ctr" indent="0" marL="0">
              <a:buNone/>
            </a:pPr>
            <a:r>
              <a:rPr lang="en-US" sz="1600" i="1" dirty="0">
                <a:solidFill>
                  <a:schemeClr val="bg2"/>
                </a:solidFill>
                <a:latin typeface="Courier New" pitchFamily="34" charset="0"/>
                <a:ea typeface="Courier New" pitchFamily="34" charset="-122"/>
                <a:cs typeface="Courier New" pitchFamily="34" charset="-120"/>
              </a:rPr>
              <a:t>[ placeholder — terminal capture: a natural-language request,</a:t>
            </a:r>
            <a:endParaRPr lang="en-US" sz="1600" dirty="0"/>
          </a:p>
          <a:p>
            <a:pPr algn="ctr" indent="0" marL="0">
              <a:buNone/>
            </a:pPr>
            <a:r>
              <a:rPr lang="en-US" sz="1600" i="1" dirty="0">
                <a:solidFill>
                  <a:schemeClr val="bg2"/>
                </a:solidFill>
                <a:latin typeface="Courier New" pitchFamily="34" charset="0"/>
                <a:ea typeface="Courier New" pitchFamily="34" charset="-122"/>
                <a:cs typeface="Courier New" pitchFamily="34" charset="-120"/>
              </a:rPr>
              <a:t>the generated command, the confirmation gate, and the result ]</a:t>
            </a:r>
            <a:endParaRPr lang="en-US" sz="1600" dirty="0"/>
          </a:p>
        </p:txBody>
      </p:sp>
      <p:sp>
        <p:nvSpPr>
          <p:cNvPr id="9"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The Problem</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Generated commands can destroy data silently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Pattern lists judge a command by its name, not its effect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Binary choice today: unsafe (let it through) or useless (refuse everything)</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Needed: know the command's actual effect before it runs</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What It Claims</a:t>
            </a:r>
            <a:endParaRPr lang="en-US" sz="3400" dirty="0"/>
          </a:p>
        </p:txBody>
      </p:sp>
      <p:sp>
        <p:nvSpPr>
          <p:cNvPr id="3" name="Shape 1"/>
          <p:cNvSpPr/>
          <p:nvPr/>
        </p:nvSpPr>
        <p:spPr>
          <a:xfrm>
            <a:off x="548640" y="1463040"/>
            <a:ext cx="5349240" cy="2514600"/>
          </a:xfrm>
          <a:prstGeom prst="roundRect">
            <a:avLst>
              <a:gd name="adj" fmla="val 2909"/>
            </a:avLst>
          </a:prstGeom>
          <a:solidFill>
            <a:srgbClr val="161B22"/>
          </a:solidFill>
          <a:ln w="15240">
            <a:solidFill>
              <a:srgbClr val="3FB950"/>
            </a:solidFill>
            <a:prstDash val="solid"/>
          </a:ln>
        </p:spPr>
      </p:sp>
      <p:sp>
        <p:nvSpPr>
          <p:cNvPr id="4" name="Text 2"/>
          <p:cNvSpPr txBox="1"/>
          <p:nvPr/>
        </p:nvSpPr>
        <p:spPr>
          <a:xfrm>
            <a:off x="777240" y="1645920"/>
            <a:ext cx="4892040" cy="502920"/>
          </a:xfrm>
          <a:prstGeom prst="rect">
            <a:avLst/>
          </a:prstGeom>
          <a:noFill/>
          <a:ln/>
        </p:spPr>
        <p:txBody>
          <a:bodyPr wrap="square" lIns="0" tIns="0" rIns="0" bIns="0" rtlCol="0" anchor="ctr"/>
          <a:lstStyle/>
          <a:p>
            <a:pPr indent="0" marL="0">
              <a:buNone/>
            </a:pPr>
            <a:r>
              <a:rPr lang="en-US" sz="1700" b="1" dirty="0">
                <a:solidFill>
                  <a:schemeClr val="accent1"/>
                </a:solidFill>
                <a:latin typeface="Courier New" pitchFamily="34" charset="0"/>
                <a:ea typeface="Courier New" pitchFamily="34" charset="-122"/>
                <a:cs typeface="Courier New" pitchFamily="34" charset="-120"/>
              </a:rPr>
              <a:t>Composition through wrappers</a:t>
            </a:r>
            <a:endParaRPr lang="en-US" sz="1700" dirty="0"/>
          </a:p>
        </p:txBody>
      </p:sp>
      <p:sp>
        <p:nvSpPr>
          <p:cNvPr id="5" name="Text 3"/>
          <p:cNvSpPr txBox="1"/>
          <p:nvPr/>
        </p:nvSpPr>
        <p:spPr>
          <a:xfrm>
            <a:off x="777240" y="2194560"/>
            <a:ext cx="4892040" cy="1691640"/>
          </a:xfrm>
          <a:prstGeom prst="rect">
            <a:avLst/>
          </a:prstGeom>
          <a:noFill/>
          <a:ln/>
        </p:spPr>
        <p:txBody>
          <a:bodyPr wrap="square" lIns="0" tIns="0" rIns="0" bIns="0" rtlCol="0" anchor="ctr"/>
          <a:lstStyle/>
          <a:p>
            <a:pPr indent="0" marL="0">
              <a:buNone/>
            </a:pPr>
            <a:r>
              <a:rPr lang="en-US" sz="1600" dirty="0">
                <a:solidFill>
                  <a:schemeClr val="bg1"/>
                </a:solidFill>
                <a:latin typeface="Calibri" pitchFamily="34" charset="0"/>
                <a:ea typeface="Calibri" pitchFamily="34" charset="-122"/>
                <a:cs typeface="Calibri" pitchFamily="34" charset="-120"/>
              </a:rPr>
              <a:t>find -exec, xargs, loops, substitution, pipelines, sudo — earlier segments visible to later ones</a:t>
            </a:r>
            <a:endParaRPr lang="en-US" sz="1600" dirty="0"/>
          </a:p>
        </p:txBody>
      </p:sp>
      <p:sp>
        <p:nvSpPr>
          <p:cNvPr id="6" name="Shape 4"/>
          <p:cNvSpPr/>
          <p:nvPr/>
        </p:nvSpPr>
        <p:spPr>
          <a:xfrm>
            <a:off x="6172200" y="1463040"/>
            <a:ext cx="5349240" cy="2514600"/>
          </a:xfrm>
          <a:prstGeom prst="roundRect">
            <a:avLst>
              <a:gd name="adj" fmla="val 2909"/>
            </a:avLst>
          </a:prstGeom>
          <a:solidFill>
            <a:srgbClr val="161B22"/>
          </a:solidFill>
          <a:ln w="15240">
            <a:solidFill>
              <a:srgbClr val="3FB950"/>
            </a:solidFill>
            <a:prstDash val="solid"/>
          </a:ln>
        </p:spPr>
      </p:sp>
      <p:sp>
        <p:nvSpPr>
          <p:cNvPr id="7" name="Text 5"/>
          <p:cNvSpPr txBox="1"/>
          <p:nvPr/>
        </p:nvSpPr>
        <p:spPr>
          <a:xfrm>
            <a:off x="6400800" y="1645920"/>
            <a:ext cx="4892040" cy="502920"/>
          </a:xfrm>
          <a:prstGeom prst="rect">
            <a:avLst/>
          </a:prstGeom>
          <a:noFill/>
          <a:ln/>
        </p:spPr>
        <p:txBody>
          <a:bodyPr wrap="square" lIns="0" tIns="0" rIns="0" bIns="0" rtlCol="0" anchor="ctr"/>
          <a:lstStyle/>
          <a:p>
            <a:pPr indent="0" marL="0">
              <a:buNone/>
            </a:pPr>
            <a:r>
              <a:rPr lang="en-US" sz="1700" b="1" dirty="0">
                <a:solidFill>
                  <a:schemeClr val="accent1"/>
                </a:solidFill>
                <a:latin typeface="Courier New" pitchFamily="34" charset="0"/>
                <a:ea typeface="Courier New" pitchFamily="34" charset="-122"/>
                <a:cs typeface="Courier New" pitchFamily="34" charset="-120"/>
              </a:rPr>
              <a:t>Resolution of run-time targets</a:t>
            </a:r>
            <a:endParaRPr lang="en-US" sz="1700" dirty="0"/>
          </a:p>
        </p:txBody>
      </p:sp>
      <p:sp>
        <p:nvSpPr>
          <p:cNvPr id="8" name="Text 6"/>
          <p:cNvSpPr txBox="1"/>
          <p:nvPr/>
        </p:nvSpPr>
        <p:spPr>
          <a:xfrm>
            <a:off x="6400800" y="2194560"/>
            <a:ext cx="4892040" cy="1691640"/>
          </a:xfrm>
          <a:prstGeom prst="rect">
            <a:avLst/>
          </a:prstGeom>
          <a:noFill/>
          <a:ln/>
        </p:spPr>
        <p:txBody>
          <a:bodyPr wrap="square" lIns="0" tIns="0" rIns="0" bIns="0" rtlCol="0" anchor="ctr"/>
          <a:lstStyle/>
          <a:p>
            <a:pPr indent="0" marL="0">
              <a:buNone/>
            </a:pPr>
            <a:r>
              <a:rPr lang="en-US" sz="1600" dirty="0">
                <a:solidFill>
                  <a:schemeClr val="bg1"/>
                </a:solidFill>
                <a:latin typeface="Calibri" pitchFamily="34" charset="0"/>
                <a:ea typeface="Calibri" pitchFamily="34" charset="-122"/>
                <a:cs typeface="Calibri" pitchFamily="34" charset="-120"/>
              </a:rPr>
              <a:t>Targets computed at run time (rm $(ls *.log), find -delete, xargs rm) resolved via a read-only dry run before execution</a:t>
            </a:r>
            <a:endParaRPr lang="en-US" sz="1600" dirty="0"/>
          </a:p>
        </p:txBody>
      </p:sp>
      <p:sp>
        <p:nvSpPr>
          <p:cNvPr id="9" name="Shape 7"/>
          <p:cNvSpPr/>
          <p:nvPr/>
        </p:nvSpPr>
        <p:spPr>
          <a:xfrm>
            <a:off x="548640" y="4160520"/>
            <a:ext cx="10972800" cy="777240"/>
          </a:xfrm>
          <a:prstGeom prst="roundRect">
            <a:avLst>
              <a:gd name="adj" fmla="val 7059"/>
            </a:avLst>
          </a:prstGeom>
          <a:solidFill>
            <a:srgbClr val="161B22"/>
          </a:solidFill>
          <a:ln w="12700">
            <a:solidFill>
              <a:srgbClr val="F0A500"/>
            </a:solidFill>
            <a:prstDash val="solid"/>
          </a:ln>
        </p:spPr>
      </p:sp>
      <p:sp>
        <p:nvSpPr>
          <p:cNvPr id="10" name="Text 8"/>
          <p:cNvSpPr txBox="1"/>
          <p:nvPr/>
        </p:nvSpPr>
        <p:spPr>
          <a:xfrm>
            <a:off x="822960" y="4160520"/>
            <a:ext cx="10424160" cy="777240"/>
          </a:xfrm>
          <a:prstGeom prst="rect">
            <a:avLst/>
          </a:prstGeom>
          <a:noFill/>
          <a:ln/>
        </p:spPr>
        <p:txBody>
          <a:bodyPr wrap="square" lIns="0" tIns="0" rIns="0" bIns="0" rtlCol="0" anchor="ctr"/>
          <a:lstStyle/>
          <a:p>
            <a:pPr indent="0" marL="0">
              <a:buNone/>
            </a:pPr>
            <a:r>
              <a:rPr lang="en-US" sz="1600" b="1" dirty="0">
                <a:solidFill>
                  <a:schemeClr val="accent2"/>
                </a:solidFill>
                <a:latin typeface="Calibri" pitchFamily="34" charset="0"/>
                <a:ea typeface="Calibri" pitchFamily="34" charset="-122"/>
                <a:cs typeface="Calibri" pitchFamily="34" charset="-120"/>
              </a:rPr>
              <a:t>Deliberately narrow: </a:t>
            </a:r>
            <a:pPr indent="0" marL="0">
              <a:buNone/>
            </a:pPr>
            <a:r>
              <a:rPr lang="en-US" sz="1600" dirty="0">
                <a:solidFill>
                  <a:schemeClr val="bg1"/>
                </a:solidFill>
                <a:latin typeface="Calibri" pitchFamily="34" charset="0"/>
                <a:ea typeface="Calibri" pitchFamily="34" charset="-122"/>
                <a:cs typeface="Calibri" pitchFamily="34" charset="-120"/>
              </a:rPr>
              <a:t>unmodeled commands are unknown → fail closed, ask, capture nothing.</a:t>
            </a:r>
            <a:endParaRPr lang="en-US" sz="1600" dirty="0"/>
          </a:p>
        </p:txBody>
      </p:sp>
      <p:sp>
        <p:nvSpPr>
          <p:cNvPr id="11" name="Shape 9"/>
          <p:cNvSpPr/>
          <p:nvPr/>
        </p:nvSpPr>
        <p:spPr>
          <a:xfrm>
            <a:off x="548640" y="5074920"/>
            <a:ext cx="10972800" cy="1325880"/>
          </a:xfrm>
          <a:prstGeom prst="roundRect">
            <a:avLst>
              <a:gd name="adj" fmla="val 5517"/>
            </a:avLst>
          </a:prstGeom>
          <a:solidFill>
            <a:srgbClr val="161B22"/>
          </a:solidFill>
          <a:ln w="12700">
            <a:solidFill>
              <a:srgbClr val="8B949E"/>
            </a:solidFill>
            <a:prstDash val="dash"/>
          </a:ln>
          <a:effectLst>
            <a:outerShdw sx="100000" sy="100000" kx="0" ky="0" algn="bl" rotWithShape="0" blurRad="76200" dist="38100" dir="5400000">
              <a:srgbClr val="000000">
                <a:alpha val="40000"/>
              </a:srgbClr>
            </a:outerShdw>
          </a:effectLst>
        </p:spPr>
      </p:sp>
      <p:sp>
        <p:nvSpPr>
          <p:cNvPr id="12" name="Shape 10"/>
          <p:cNvSpPr/>
          <p:nvPr/>
        </p:nvSpPr>
        <p:spPr>
          <a:xfrm>
            <a:off x="749808" y="5257800"/>
            <a:ext cx="128016" cy="128016"/>
          </a:xfrm>
          <a:prstGeom prst="ellipse">
            <a:avLst/>
          </a:prstGeom>
          <a:solidFill>
            <a:srgbClr val="F85149"/>
          </a:solidFill>
          <a:ln/>
        </p:spPr>
      </p:sp>
      <p:sp>
        <p:nvSpPr>
          <p:cNvPr id="13" name="Shape 11"/>
          <p:cNvSpPr/>
          <p:nvPr/>
        </p:nvSpPr>
        <p:spPr>
          <a:xfrm>
            <a:off x="987552" y="5257800"/>
            <a:ext cx="128016" cy="128016"/>
          </a:xfrm>
          <a:prstGeom prst="ellipse">
            <a:avLst/>
          </a:prstGeom>
          <a:solidFill>
            <a:srgbClr val="F0A500"/>
          </a:solidFill>
          <a:ln/>
        </p:spPr>
      </p:sp>
      <p:sp>
        <p:nvSpPr>
          <p:cNvPr id="14" name="Shape 12"/>
          <p:cNvSpPr/>
          <p:nvPr/>
        </p:nvSpPr>
        <p:spPr>
          <a:xfrm>
            <a:off x="1225296" y="5257800"/>
            <a:ext cx="128016" cy="128016"/>
          </a:xfrm>
          <a:prstGeom prst="ellipse">
            <a:avLst/>
          </a:prstGeom>
          <a:solidFill>
            <a:srgbClr val="3FB950"/>
          </a:solidFill>
          <a:ln/>
        </p:spPr>
      </p:sp>
      <p:sp>
        <p:nvSpPr>
          <p:cNvPr id="15" name="Text 13"/>
          <p:cNvSpPr txBox="1"/>
          <p:nvPr/>
        </p:nvSpPr>
        <p:spPr>
          <a:xfrm>
            <a:off x="914400" y="5623560"/>
            <a:ext cx="10241280" cy="411480"/>
          </a:xfrm>
          <a:prstGeom prst="rect">
            <a:avLst/>
          </a:prstGeom>
          <a:noFill/>
          <a:ln/>
        </p:spPr>
        <p:txBody>
          <a:bodyPr wrap="square" lIns="0" tIns="0" rIns="0" bIns="0" rtlCol="0" anchor="ctr"/>
          <a:lstStyle/>
          <a:p>
            <a:pPr algn="ctr" indent="0" marL="0">
              <a:buNone/>
            </a:pPr>
            <a:r>
              <a:rPr lang="en-US" sz="1600" i="1" dirty="0">
                <a:solidFill>
                  <a:schemeClr val="bg2"/>
                </a:solidFill>
                <a:latin typeface="Courier New" pitchFamily="34" charset="0"/>
                <a:ea typeface="Courier New" pitchFamily="34" charset="-122"/>
                <a:cs typeface="Courier New" pitchFamily="34" charset="-120"/>
              </a:rPr>
              <a:t>[ placeholder — terminal capture: the safety gate catching a destructive</a:t>
            </a:r>
            <a:endParaRPr lang="en-US" sz="1600" dirty="0"/>
          </a:p>
          <a:p>
            <a:pPr algn="ctr" indent="0" marL="0">
              <a:buNone/>
            </a:pPr>
            <a:r>
              <a:rPr lang="en-US" sz="1600" i="1" dirty="0">
                <a:solidFill>
                  <a:schemeClr val="bg2"/>
                </a:solidFill>
                <a:latin typeface="Courier New" pitchFamily="34" charset="0"/>
                <a:ea typeface="Courier New" pitchFamily="34" charset="-122"/>
                <a:cs typeface="Courier New" pitchFamily="34" charset="-120"/>
              </a:rPr>
              <a:t>command and asking for confirmation before it runs ]</a:t>
            </a:r>
            <a:endParaRPr lang="en-US" sz="1600" dirty="0"/>
          </a:p>
        </p:txBody>
      </p:sp>
      <p:sp>
        <p:nvSpPr>
          <p:cNvPr id="1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Evaluation Design — Two Independent Studies</a:t>
            </a:r>
            <a:endParaRPr lang="en-US" sz="3400" dirty="0"/>
          </a:p>
        </p:txBody>
      </p:sp>
      <p:sp>
        <p:nvSpPr>
          <p:cNvPr id="3" name="Shape 1"/>
          <p:cNvSpPr/>
          <p:nvPr/>
        </p:nvSpPr>
        <p:spPr>
          <a:xfrm>
            <a:off x="548640" y="1554480"/>
            <a:ext cx="5349240" cy="4297680"/>
          </a:xfrm>
          <a:prstGeom prst="roundRect">
            <a:avLst>
              <a:gd name="adj" fmla="val 1702"/>
            </a:avLst>
          </a:prstGeom>
          <a:solidFill>
            <a:srgbClr val="161B22"/>
          </a:solidFill>
          <a:ln w="15240">
            <a:solidFill>
              <a:srgbClr val="3FB950"/>
            </a:solidFill>
            <a:prstDash val="solid"/>
          </a:ln>
        </p:spPr>
      </p:sp>
      <p:sp>
        <p:nvSpPr>
          <p:cNvPr id="4" name="Text 2"/>
          <p:cNvSpPr txBox="1"/>
          <p:nvPr/>
        </p:nvSpPr>
        <p:spPr>
          <a:xfrm>
            <a:off x="822960" y="1783080"/>
            <a:ext cx="4800600" cy="502920"/>
          </a:xfrm>
          <a:prstGeom prst="rect">
            <a:avLst/>
          </a:prstGeom>
          <a:noFill/>
          <a:ln/>
        </p:spPr>
        <p:txBody>
          <a:bodyPr wrap="square" lIns="0" tIns="0" rIns="0" bIns="0" rtlCol="0" anchor="ctr"/>
          <a:lstStyle/>
          <a:p>
            <a:pPr indent="0" marL="0">
              <a:buNone/>
            </a:pPr>
            <a:r>
              <a:rPr lang="en-US" sz="1900" b="1" dirty="0">
                <a:solidFill>
                  <a:srgbClr val="3FB950"/>
                </a:solidFill>
                <a:latin typeface="Courier New" pitchFamily="34" charset="0"/>
                <a:ea typeface="Courier New" pitchFamily="34" charset="-122"/>
                <a:cs typeface="Courier New" pitchFamily="34" charset="-120"/>
              </a:rPr>
              <a:t>Algorithm study (RQ1)</a:t>
            </a:r>
            <a:endParaRPr lang="en-US" sz="1900" dirty="0"/>
          </a:p>
        </p:txBody>
      </p:sp>
      <p:sp>
        <p:nvSpPr>
          <p:cNvPr id="5" name="Text 3"/>
          <p:cNvSpPr txBox="1"/>
          <p:nvPr/>
        </p:nvSpPr>
        <p:spPr>
          <a:xfrm>
            <a:off x="82296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Corpus-based — no participants</a:t>
            </a:r>
            <a:endParaRPr lang="en-US" sz="1600" dirty="0"/>
          </a:p>
          <a:p>
            <a:pPr marL="342900" indent="-342900">
              <a:spcAft>
                <a:spcPts val="1200"/>
              </a:spcAft>
              <a:buSzPct val="100000"/>
              <a:buChar char="▸"/>
            </a:pPr>
            <a:r>
              <a:rPr lang="en-US" sz="1600" dirty="0">
                <a:solidFill>
                  <a:schemeClr val="bg1"/>
                </a:solidFill>
              </a:rPr>
              <a:t>Held-out commands, sandboxed ground truth</a:t>
            </a:r>
            <a:endParaRPr lang="en-US" sz="1600" dirty="0"/>
          </a:p>
          <a:p>
            <a:pPr marL="342900" indent="-342900">
              <a:spcAft>
                <a:spcPts val="1200"/>
              </a:spcAft>
              <a:buSzPct val="100000"/>
              <a:buChar char="▸"/>
            </a:pPr>
            <a:r>
              <a:rPr lang="en-US" sz="1600" dirty="0">
                <a:solidFill>
                  <a:schemeClr val="bg1"/>
                </a:solidFill>
              </a:rPr>
              <a:t>Three baselines: pattern list, fail-closed list, algorithm</a:t>
            </a:r>
            <a:endParaRPr lang="en-US" sz="1600" dirty="0"/>
          </a:p>
          <a:p>
            <a:pPr marL="342900" indent="-342900">
              <a:spcAft>
                <a:spcPts val="1200"/>
              </a:spcAft>
              <a:buSzPct val="100000"/>
              <a:buChar char="▸"/>
            </a:pPr>
            <a:r>
              <a:rPr lang="en-US" sz="1600" dirty="0">
                <a:solidFill>
                  <a:schemeClr val="bg1"/>
                </a:solidFill>
              </a:rPr>
              <a:t>Answers RQ1 independently</a:t>
            </a:r>
            <a:endParaRPr lang="en-US" sz="1600" dirty="0"/>
          </a:p>
        </p:txBody>
      </p:sp>
      <p:sp>
        <p:nvSpPr>
          <p:cNvPr id="6" name="Shape 4"/>
          <p:cNvSpPr/>
          <p:nvPr/>
        </p:nvSpPr>
        <p:spPr>
          <a:xfrm>
            <a:off x="6172200" y="1554480"/>
            <a:ext cx="5349240" cy="4297680"/>
          </a:xfrm>
          <a:prstGeom prst="roundRect">
            <a:avLst>
              <a:gd name="adj" fmla="val 1702"/>
            </a:avLst>
          </a:prstGeom>
          <a:solidFill>
            <a:srgbClr val="161B22"/>
          </a:solidFill>
          <a:ln w="15240">
            <a:solidFill>
              <a:srgbClr val="58A6FF"/>
            </a:solidFill>
            <a:prstDash val="solid"/>
          </a:ln>
        </p:spPr>
      </p:sp>
      <p:sp>
        <p:nvSpPr>
          <p:cNvPr id="7" name="Text 5"/>
          <p:cNvSpPr txBox="1"/>
          <p:nvPr/>
        </p:nvSpPr>
        <p:spPr>
          <a:xfrm>
            <a:off x="6446520" y="1783080"/>
            <a:ext cx="4800600" cy="502920"/>
          </a:xfrm>
          <a:prstGeom prst="rect">
            <a:avLst/>
          </a:prstGeom>
          <a:noFill/>
          <a:ln/>
        </p:spPr>
        <p:txBody>
          <a:bodyPr wrap="square" lIns="0" tIns="0" rIns="0" bIns="0" rtlCol="0" anchor="ctr"/>
          <a:lstStyle/>
          <a:p>
            <a:pPr indent="0" marL="0">
              <a:buNone/>
            </a:pPr>
            <a:r>
              <a:rPr lang="en-US" sz="1900" b="1" dirty="0">
                <a:solidFill>
                  <a:srgbClr val="58A6FF"/>
                </a:solidFill>
                <a:latin typeface="Courier New" pitchFamily="34" charset="0"/>
                <a:ea typeface="Courier New" pitchFamily="34" charset="-122"/>
                <a:cs typeface="Courier New" pitchFamily="34" charset="-120"/>
              </a:rPr>
              <a:t>User study (RQ2–4)</a:t>
            </a:r>
            <a:endParaRPr lang="en-US" sz="1900" dirty="0"/>
          </a:p>
        </p:txBody>
      </p:sp>
      <p:sp>
        <p:nvSpPr>
          <p:cNvPr id="8" name="Text 6"/>
          <p:cNvSpPr txBox="1"/>
          <p:nvPr/>
        </p:nvSpPr>
        <p:spPr>
          <a:xfrm>
            <a:off x="644652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40 participants, within-subjects</a:t>
            </a:r>
            <a:endParaRPr lang="en-US" sz="1600" dirty="0"/>
          </a:p>
          <a:p>
            <a:pPr marL="342900" indent="-342900">
              <a:spcAft>
                <a:spcPts val="1200"/>
              </a:spcAft>
              <a:buSzPct val="100000"/>
              <a:buChar char="▸"/>
            </a:pPr>
            <a:r>
              <a:rPr lang="en-US" sz="1600" dirty="0">
                <a:solidFill>
                  <a:schemeClr val="bg1"/>
                </a:solidFill>
              </a:rPr>
              <a:t>Each person vs. their own daily OS</a:t>
            </a:r>
            <a:endParaRPr lang="en-US" sz="1600" dirty="0"/>
          </a:p>
          <a:p>
            <a:pPr marL="342900" indent="-342900">
              <a:spcAft>
                <a:spcPts val="1200"/>
              </a:spcAft>
              <a:buSzPct val="100000"/>
              <a:buChar char="▸"/>
            </a:pPr>
            <a:r>
              <a:rPr lang="en-US" sz="1600" dirty="0">
                <a:solidFill>
                  <a:schemeClr val="bg1"/>
                </a:solidFill>
              </a:rPr>
              <a:t>OSWorld + custom cross-platform task suite</a:t>
            </a:r>
            <a:endParaRPr lang="en-US" sz="1600" dirty="0"/>
          </a:p>
          <a:p>
            <a:pPr marL="342900" indent="-342900">
              <a:spcAft>
                <a:spcPts val="1200"/>
              </a:spcAft>
              <a:buSzPct val="100000"/>
              <a:buChar char="▸"/>
            </a:pPr>
            <a:r>
              <a:rPr lang="en-US" sz="1600" dirty="0">
                <a:solidFill>
                  <a:schemeClr val="bg1"/>
                </a:solidFill>
              </a:rPr>
              <a:t>Pending IRB / ethics approval</a:t>
            </a:r>
            <a:endParaRPr lang="en-US" sz="1600" dirty="0"/>
          </a:p>
        </p:txBody>
      </p:sp>
      <p:sp>
        <p:nvSpPr>
          <p:cNvPr id="10"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Silent Data Loss</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Out of 405 commands that touch something outside the filesystem or lose data.</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Restoration Coverage</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Single-annotator corpus, one held-out round — a second annotator and a larger sample are still open (open-problems.md, row 27).</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Interface Evaluation Plan (RQ2–4)</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Within-subjects: 40 participants vs. their own primary OS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Two populations: fluent in neither interface, fluent in both</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Tasks: OSWorld benchmark + custom cross-platform suite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Measures: completion time, error rate, SUS, NASA-TLX, interview</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Scope &amp; Sequencing</a:t>
            </a:r>
            <a:endParaRPr lang="en-US" sz="3400" dirty="0"/>
          </a:p>
        </p:txBody>
      </p:sp>
      <p:sp>
        <p:nvSpPr>
          <p:cNvPr id="3" name="Shape 1"/>
          <p:cNvSpPr/>
          <p:nvPr/>
        </p:nvSpPr>
        <p:spPr>
          <a:xfrm>
            <a:off x="548640" y="1554480"/>
            <a:ext cx="11064240" cy="1920240"/>
          </a:xfrm>
          <a:prstGeom prst="roundRect">
            <a:avLst>
              <a:gd name="adj" fmla="val 3810"/>
            </a:avLst>
          </a:prstGeom>
          <a:solidFill>
            <a:srgbClr val="161B22"/>
          </a:solidFill>
          <a:ln w="15240">
            <a:solidFill>
              <a:srgbClr val="F0A500"/>
            </a:solidFill>
            <a:prstDash val="solid"/>
          </a:ln>
        </p:spPr>
      </p:sp>
      <p:sp>
        <p:nvSpPr>
          <p:cNvPr id="4" name="Text 2"/>
          <p:cNvSpPr txBox="1"/>
          <p:nvPr/>
        </p:nvSpPr>
        <p:spPr>
          <a:xfrm>
            <a:off x="868680" y="1737360"/>
            <a:ext cx="10424160" cy="1600200"/>
          </a:xfrm>
          <a:prstGeom prst="rect">
            <a:avLst/>
          </a:prstGeom>
          <a:noFill/>
          <a:ln/>
        </p:spPr>
        <p:txBody>
          <a:bodyPr wrap="square" lIns="0" tIns="0" rIns="0" bIns="0" rtlCol="0" anchor="ctr"/>
          <a:lstStyle/>
          <a:p>
            <a:pPr indent="0" marL="0">
              <a:buNone/>
            </a:pPr>
            <a:r>
              <a:rPr lang="en-US" sz="1900" b="1" dirty="0">
                <a:solidFill>
                  <a:schemeClr val="accent2"/>
                </a:solidFill>
                <a:latin typeface="Calibri" pitchFamily="34" charset="0"/>
                <a:ea typeface="Calibri" pitchFamily="34" charset="-122"/>
                <a:cs typeface="Calibri" pitchFamily="34" charset="-120"/>
              </a:rPr>
              <a:t>Responding directly to “manage scope carefully”:
</a:t>
            </a:r>
            <a:endParaRPr lang="en-US" sz="1900" dirty="0"/>
          </a:p>
          <a:p>
            <a:pPr indent="0" marL="0">
              <a:buNone/>
            </a:pPr>
            <a:r>
              <a:rPr lang="en-US" sz="1800" dirty="0">
                <a:solidFill>
                  <a:schemeClr val="bg1"/>
                </a:solidFill>
                <a:latin typeface="Calibri" pitchFamily="34" charset="0"/>
                <a:ea typeface="Calibri" pitchFamily="34" charset="-122"/>
                <a:cs typeface="Calibri" pitchFamily="34" charset="-120"/>
              </a:rPr>
              <a:t>Algorithm + GUI-mode launch — mandatory. Model fine-tuning + full comparative study — real, but first to shrink.</a:t>
            </a:r>
            <a:endParaRPr lang="en-US" sz="1900" dirty="0"/>
          </a:p>
        </p:txBody>
      </p:sp>
      <p:sp>
        <p:nvSpPr>
          <p:cNvPr id="5" name="Text 3"/>
          <p:cNvSpPr txBox="1"/>
          <p:nvPr/>
        </p:nvSpPr>
        <p:spPr>
          <a:xfrm>
            <a:off x="548640" y="3749040"/>
            <a:ext cx="11064240" cy="731520"/>
          </a:xfrm>
          <a:prstGeom prst="rect">
            <a:avLst/>
          </a:prstGeom>
          <a:noFill/>
          <a:ln/>
        </p:spPr>
        <p:txBody>
          <a:bodyPr wrap="square" lIns="0" tIns="0" rIns="0" bIns="0" rtlCol="0" anchor="ctr"/>
          <a:lstStyle/>
          <a:p>
            <a:pPr indent="0" marL="0">
              <a:buNone/>
            </a:pPr>
            <a:r>
              <a:rPr lang="en-US" sz="1800" i="1" dirty="0">
                <a:solidFill>
                  <a:schemeClr val="bg2"/>
                </a:solidFill>
                <a:latin typeface="Calibri" pitchFamily="34" charset="0"/>
                <a:ea typeface="Calibri" pitchFamily="34" charset="-122"/>
                <a:cs typeface="Calibri" pitchFamily="34" charset="-120"/>
              </a:rPr>
              <a:t>A reorder of priority, not of ambition.</a:t>
            </a:r>
            <a:endParaRPr lang="en-US" sz="18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Current Status</a:t>
            </a:r>
            <a:endParaRPr lang="en-US" sz="3400" dirty="0"/>
          </a:p>
        </p:txBody>
      </p:sp>
      <p:sp>
        <p:nvSpPr>
          <p:cNvPr id="3" name="Shape 1"/>
          <p:cNvSpPr/>
          <p:nvPr/>
        </p:nvSpPr>
        <p:spPr>
          <a:xfrm>
            <a:off x="548640" y="1737360"/>
            <a:ext cx="11064240" cy="1188720"/>
          </a:xfrm>
          <a:prstGeom prst="roundRect">
            <a:avLst>
              <a:gd name="adj" fmla="val 4615"/>
            </a:avLst>
          </a:prstGeom>
          <a:solidFill>
            <a:srgbClr val="161B22"/>
          </a:solidFill>
          <a:ln/>
        </p:spPr>
      </p:sp>
      <p:sp>
        <p:nvSpPr>
          <p:cNvPr id="4" name="Shape 2"/>
          <p:cNvSpPr/>
          <p:nvPr/>
        </p:nvSpPr>
        <p:spPr>
          <a:xfrm>
            <a:off x="868680" y="2231136"/>
            <a:ext cx="237744" cy="237744"/>
          </a:xfrm>
          <a:prstGeom prst="ellipse">
            <a:avLst/>
          </a:prstGeom>
          <a:solidFill>
            <a:srgbClr val="3FB950"/>
          </a:solidFill>
          <a:ln/>
        </p:spPr>
      </p:sp>
      <p:sp>
        <p:nvSpPr>
          <p:cNvPr id="5" name="Text 3"/>
          <p:cNvSpPr txBox="1"/>
          <p:nvPr/>
        </p:nvSpPr>
        <p:spPr>
          <a:xfrm>
            <a:off x="1280160" y="18745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Algorithm (RQ1)</a:t>
            </a:r>
            <a:endParaRPr lang="en-US" sz="1800" dirty="0"/>
          </a:p>
        </p:txBody>
      </p:sp>
      <p:sp>
        <p:nvSpPr>
          <p:cNvPr id="6" name="Text 4"/>
          <p:cNvSpPr txBox="1"/>
          <p:nvPr/>
        </p:nvSpPr>
        <p:spPr>
          <a:xfrm>
            <a:off x="5852160" y="18745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Essentially done — round 7 reported</a:t>
            </a:r>
            <a:endParaRPr lang="en-US" sz="1700" dirty="0"/>
          </a:p>
        </p:txBody>
      </p:sp>
      <p:sp>
        <p:nvSpPr>
          <p:cNvPr id="7" name="Shape 5"/>
          <p:cNvSpPr/>
          <p:nvPr/>
        </p:nvSpPr>
        <p:spPr>
          <a:xfrm>
            <a:off x="548640" y="3108960"/>
            <a:ext cx="11064240" cy="1188720"/>
          </a:xfrm>
          <a:prstGeom prst="roundRect">
            <a:avLst>
              <a:gd name="adj" fmla="val 4615"/>
            </a:avLst>
          </a:prstGeom>
          <a:solidFill>
            <a:srgbClr val="161B22"/>
          </a:solidFill>
          <a:ln/>
        </p:spPr>
      </p:sp>
      <p:sp>
        <p:nvSpPr>
          <p:cNvPr id="8" name="Shape 6"/>
          <p:cNvSpPr/>
          <p:nvPr/>
        </p:nvSpPr>
        <p:spPr>
          <a:xfrm>
            <a:off x="868680" y="3602736"/>
            <a:ext cx="237744" cy="237744"/>
          </a:xfrm>
          <a:prstGeom prst="ellipse">
            <a:avLst/>
          </a:prstGeom>
          <a:solidFill>
            <a:srgbClr val="F0A500"/>
          </a:solidFill>
          <a:ln/>
        </p:spPr>
      </p:sp>
      <p:sp>
        <p:nvSpPr>
          <p:cNvPr id="9" name="Text 7"/>
          <p:cNvSpPr txBox="1"/>
          <p:nvPr/>
        </p:nvSpPr>
        <p:spPr>
          <a:xfrm>
            <a:off x="1280160" y="32461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Build — runtime &amp; GUI session launch</a:t>
            </a:r>
            <a:endParaRPr lang="en-US" sz="1800" dirty="0"/>
          </a:p>
        </p:txBody>
      </p:sp>
      <p:sp>
        <p:nvSpPr>
          <p:cNvPr id="10" name="Text 8"/>
          <p:cNvSpPr txBox="1"/>
          <p:nvPr/>
        </p:nvSpPr>
        <p:spPr>
          <a:xfrm>
            <a:off x="5852160" y="32461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In progress</a:t>
            </a:r>
            <a:endParaRPr lang="en-US" sz="1700" dirty="0"/>
          </a:p>
        </p:txBody>
      </p:sp>
      <p:sp>
        <p:nvSpPr>
          <p:cNvPr id="11" name="Shape 9"/>
          <p:cNvSpPr/>
          <p:nvPr/>
        </p:nvSpPr>
        <p:spPr>
          <a:xfrm>
            <a:off x="548640" y="4480560"/>
            <a:ext cx="11064240" cy="1188720"/>
          </a:xfrm>
          <a:prstGeom prst="roundRect">
            <a:avLst>
              <a:gd name="adj" fmla="val 4615"/>
            </a:avLst>
          </a:prstGeom>
          <a:solidFill>
            <a:srgbClr val="161B22"/>
          </a:solidFill>
          <a:ln/>
        </p:spPr>
      </p:sp>
      <p:sp>
        <p:nvSpPr>
          <p:cNvPr id="12" name="Shape 10"/>
          <p:cNvSpPr/>
          <p:nvPr/>
        </p:nvSpPr>
        <p:spPr>
          <a:xfrm>
            <a:off x="868680" y="4974336"/>
            <a:ext cx="237744" cy="237744"/>
          </a:xfrm>
          <a:prstGeom prst="ellipse">
            <a:avLst/>
          </a:prstGeom>
          <a:solidFill>
            <a:srgbClr val="F85149"/>
          </a:solidFill>
          <a:ln/>
        </p:spPr>
      </p:sp>
      <p:sp>
        <p:nvSpPr>
          <p:cNvPr id="13" name="Text 11"/>
          <p:cNvSpPr txBox="1"/>
          <p:nvPr/>
        </p:nvSpPr>
        <p:spPr>
          <a:xfrm>
            <a:off x="1280160" y="46177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Ethics / IRB</a:t>
            </a:r>
            <a:endParaRPr lang="en-US" sz="1800" dirty="0"/>
          </a:p>
        </p:txBody>
      </p:sp>
      <p:sp>
        <p:nvSpPr>
          <p:cNvPr id="14" name="Text 12"/>
          <p:cNvSpPr txBox="1"/>
          <p:nvPr/>
        </p:nvSpPr>
        <p:spPr>
          <a:xfrm>
            <a:off x="5852160" y="46177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Instruments drafted; application not yet submitted</a:t>
            </a:r>
            <a:endParaRPr lang="en-US" sz="1700" dirty="0"/>
          </a:p>
        </p:txBody>
      </p:sp>
      <p:sp>
        <p:nvSpPr>
          <p:cNvPr id="1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One Question We Want to Raise Ourselves</a:t>
            </a:r>
            <a:endParaRPr lang="en-US" sz="3400" dirty="0"/>
          </a:p>
        </p:txBody>
      </p:sp>
      <p:sp>
        <p:nvSpPr>
          <p:cNvPr id="3" name="Shape 1"/>
          <p:cNvSpPr/>
          <p:nvPr/>
        </p:nvSpPr>
        <p:spPr>
          <a:xfrm>
            <a:off x="822960" y="1508760"/>
            <a:ext cx="10515600" cy="1554480"/>
          </a:xfrm>
          <a:prstGeom prst="roundRect">
            <a:avLst>
              <a:gd name="adj" fmla="val 4706"/>
            </a:avLst>
          </a:prstGeom>
          <a:solidFill>
            <a:srgbClr val="161B22"/>
          </a:solidFill>
          <a:ln w="16510">
            <a:solidFill>
              <a:srgbClr val="F0A500"/>
            </a:solidFill>
            <a:prstDash val="solid"/>
          </a:ln>
        </p:spPr>
      </p:sp>
      <p:sp>
        <p:nvSpPr>
          <p:cNvPr id="4" name="Text 2"/>
          <p:cNvSpPr txBox="1"/>
          <p:nvPr/>
        </p:nvSpPr>
        <p:spPr>
          <a:xfrm>
            <a:off x="1188720" y="1691640"/>
            <a:ext cx="9784080" cy="1188720"/>
          </a:xfrm>
          <a:prstGeom prst="rect">
            <a:avLst/>
          </a:prstGeom>
          <a:noFill/>
          <a:ln/>
        </p:spPr>
        <p:txBody>
          <a:bodyPr wrap="square" lIns="0" tIns="0" rIns="0" bIns="0" rtlCol="0" anchor="ctr"/>
          <a:lstStyle/>
          <a:p>
            <a:pPr algn="ctr" indent="0" marL="0">
              <a:buNone/>
            </a:pPr>
            <a:r>
              <a:rPr lang="en-US" sz="1900" i="1" dirty="0">
                <a:solidFill>
                  <a:schemeClr val="accent2"/>
                </a:solidFill>
                <a:latin typeface="Courier New" pitchFamily="34" charset="0"/>
                <a:ea typeface="Courier New" pitchFamily="34" charset="-122"/>
                <a:cs typeface="Courier New" pitchFamily="34" charset="-120"/>
              </a:rPr>
              <a:t>“How much of this result comes from the algorithm itself, versus the hand-built rule tables underneath it?”</a:t>
            </a:r>
            <a:endParaRPr lang="en-US" sz="1900" dirty="0"/>
          </a:p>
        </p:txBody>
      </p:sp>
      <p:sp>
        <p:nvSpPr>
          <p:cNvPr id="5" name="Text 3"/>
          <p:cNvSpPr txBox="1"/>
          <p:nvPr/>
        </p:nvSpPr>
        <p:spPr>
          <a:xfrm>
            <a:off x="822960" y="3337560"/>
            <a:ext cx="10515600" cy="2926080"/>
          </a:xfrm>
          <a:prstGeom prst="rect">
            <a:avLst/>
          </a:prstGeom>
          <a:noFill/>
          <a:ln/>
        </p:spPr>
        <p:txBody>
          <a:bodyPr wrap="square" lIns="0" tIns="0" rIns="0" bIns="0" rtlCol="0" anchor="ctr"/>
          <a:lstStyle/>
          <a:p>
            <a:pPr marL="342900" indent="-342900">
              <a:spcAft>
                <a:spcPts val="1600"/>
              </a:spcAft>
              <a:buSzPct val="100000"/>
              <a:buChar char="▸"/>
            </a:pPr>
            <a:r>
              <a:rPr lang="en-US" sz="1700" dirty="0">
                <a:solidFill>
                  <a:schemeClr val="bg1"/>
                </a:solidFill>
              </a:rPr>
              <a:t>Already asked once, by our adviser</a:t>
            </a:r>
            <a:endParaRPr lang="en-US" sz="1700" dirty="0"/>
          </a:p>
          <a:p>
            <a:pPr marL="342900" indent="-342900">
              <a:spcAft>
                <a:spcPts val="1600"/>
              </a:spcAft>
              <a:buSzPct val="100000"/>
              <a:buChar char="▸"/>
            </a:pPr>
            <a:r>
              <a:rPr lang="en-US" sz="1700" dirty="0">
                <a:solidFill>
                  <a:schemeClr val="bg1"/>
                </a:solidFill>
              </a:rPr>
              <a:t>Current answer: a prose argument — the rule table is itself a list</a:t>
            </a:r>
            <a:endParaRPr lang="en-US" sz="1700" dirty="0"/>
          </a:p>
          <a:p>
            <a:pPr marL="342900" indent="-342900">
              <a:spcAft>
                <a:spcPts val="1600"/>
              </a:spcAft>
              <a:buSzPct val="100000"/>
              <a:buChar char="▸"/>
            </a:pPr>
            <a:r>
              <a:rPr lang="en-US" sz="1700" dirty="0">
                <a:solidFill>
                  <a:schemeClr val="bg1"/>
                </a:solidFill>
              </a:rPr>
              <a:t>Not yet a number — no ablation performed</a:t>
            </a:r>
            <a:endParaRPr lang="en-US" sz="1700" dirty="0"/>
          </a:p>
          <a:p>
            <a:pPr marL="342900" indent="-342900">
              <a:spcAft>
                <a:spcPts val="1600"/>
              </a:spcAft>
              <a:buSzPct val="100000"/>
              <a:buChar char="▸"/>
            </a:pPr>
            <a:r>
              <a:rPr lang="en-US" sz="1700" dirty="0">
                <a:solidFill>
                  <a:schemeClr val="bg1"/>
                </a:solidFill>
              </a:rPr>
              <a:t>Plan: analyzer flag → opaque fallback → fourth corpus column</a:t>
            </a:r>
            <a:endParaRPr lang="en-US" sz="17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Expected Contribution</a:t>
            </a:r>
            <a:endParaRPr lang="en-US" sz="3400" dirty="0"/>
          </a:p>
        </p:txBody>
      </p:sp>
      <p:sp>
        <p:nvSpPr>
          <p:cNvPr id="3" name="Shape 1"/>
          <p:cNvSpPr/>
          <p:nvPr/>
        </p:nvSpPr>
        <p:spPr>
          <a:xfrm>
            <a:off x="548640" y="1600200"/>
            <a:ext cx="3566160" cy="4023360"/>
          </a:xfrm>
          <a:prstGeom prst="roundRect">
            <a:avLst>
              <a:gd name="adj" fmla="val 2051"/>
            </a:avLst>
          </a:prstGeom>
          <a:solidFill>
            <a:srgbClr val="161B22"/>
          </a:solidFill>
          <a:ln/>
        </p:spPr>
      </p:sp>
      <p:sp>
        <p:nvSpPr>
          <p:cNvPr id="4" name="Text 2"/>
          <p:cNvSpPr txBox="1"/>
          <p:nvPr/>
        </p:nvSpPr>
        <p:spPr>
          <a:xfrm>
            <a:off x="548640" y="1783080"/>
            <a:ext cx="3566160" cy="960120"/>
          </a:xfrm>
          <a:prstGeom prst="rect">
            <a:avLst/>
          </a:prstGeom>
          <a:noFill/>
          <a:ln/>
        </p:spPr>
        <p:txBody>
          <a:bodyPr wrap="square" lIns="0" tIns="0" rIns="0" bIns="0" rtlCol="0" anchor="ctr"/>
          <a:lstStyle/>
          <a:p>
            <a:pPr algn="ctr" indent="0" marL="0">
              <a:buNone/>
            </a:pPr>
            <a:r>
              <a:rPr lang="en-US" sz="3200" b="1" dirty="0">
                <a:solidFill>
                  <a:srgbClr val="3FB950"/>
                </a:solidFill>
                <a:latin typeface="Courier New" pitchFamily="34" charset="0"/>
                <a:ea typeface="Courier New" pitchFamily="34" charset="-122"/>
                <a:cs typeface="Courier New" pitchFamily="34" charset="-120"/>
              </a:rPr>
              <a:t>RQ1</a:t>
            </a:r>
            <a:endParaRPr lang="en-US" sz="3200" dirty="0"/>
          </a:p>
        </p:txBody>
      </p:sp>
      <p:sp>
        <p:nvSpPr>
          <p:cNvPr id="5" name="Text 3"/>
          <p:cNvSpPr txBox="1"/>
          <p:nvPr/>
        </p:nvSpPr>
        <p:spPr>
          <a:xfrm>
            <a:off x="82296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Composition- and resolution-aware algorithm, evaluated against two baselines</a:t>
            </a:r>
            <a:endParaRPr lang="en-US" sz="1700" dirty="0"/>
          </a:p>
        </p:txBody>
      </p:sp>
      <p:sp>
        <p:nvSpPr>
          <p:cNvPr id="6" name="Shape 4"/>
          <p:cNvSpPr/>
          <p:nvPr/>
        </p:nvSpPr>
        <p:spPr>
          <a:xfrm>
            <a:off x="4297680" y="1600200"/>
            <a:ext cx="3566160" cy="4023360"/>
          </a:xfrm>
          <a:prstGeom prst="roundRect">
            <a:avLst>
              <a:gd name="adj" fmla="val 2051"/>
            </a:avLst>
          </a:prstGeom>
          <a:solidFill>
            <a:srgbClr val="161B22"/>
          </a:solidFill>
          <a:ln/>
        </p:spPr>
      </p:sp>
      <p:sp>
        <p:nvSpPr>
          <p:cNvPr id="7" name="Text 5"/>
          <p:cNvSpPr txBox="1"/>
          <p:nvPr/>
        </p:nvSpPr>
        <p:spPr>
          <a:xfrm>
            <a:off x="4297680" y="1783080"/>
            <a:ext cx="3566160" cy="960120"/>
          </a:xfrm>
          <a:prstGeom prst="rect">
            <a:avLst/>
          </a:prstGeom>
          <a:noFill/>
          <a:ln/>
        </p:spPr>
        <p:txBody>
          <a:bodyPr wrap="square" lIns="0" tIns="0" rIns="0" bIns="0" rtlCol="0" anchor="ctr"/>
          <a:lstStyle/>
          <a:p>
            <a:pPr algn="ctr" indent="0" marL="0">
              <a:buNone/>
            </a:pPr>
            <a:r>
              <a:rPr lang="en-US" sz="3200" b="1" dirty="0">
                <a:solidFill>
                  <a:srgbClr val="58A6FF"/>
                </a:solidFill>
                <a:latin typeface="Courier New" pitchFamily="34" charset="0"/>
                <a:ea typeface="Courier New" pitchFamily="34" charset="-122"/>
                <a:cs typeface="Courier New" pitchFamily="34" charset="-120"/>
              </a:rPr>
              <a:t>RQ2-3</a:t>
            </a:r>
            <a:endParaRPr lang="en-US" sz="3200" dirty="0"/>
          </a:p>
        </p:txBody>
      </p:sp>
      <p:sp>
        <p:nvSpPr>
          <p:cNvPr id="8" name="Text 6"/>
          <p:cNvSpPr txBox="1"/>
          <p:nvPr/>
        </p:nvSpPr>
        <p:spPr>
          <a:xfrm>
            <a:off x="457200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Interface layer with a reversibility-based confirmation gate and undo, over an unchanged desktop</a:t>
            </a:r>
            <a:endParaRPr lang="en-US" sz="1700" dirty="0"/>
          </a:p>
        </p:txBody>
      </p:sp>
      <p:sp>
        <p:nvSpPr>
          <p:cNvPr id="9" name="Shape 7"/>
          <p:cNvSpPr/>
          <p:nvPr/>
        </p:nvSpPr>
        <p:spPr>
          <a:xfrm>
            <a:off x="8046720" y="1600200"/>
            <a:ext cx="3566160" cy="4023360"/>
          </a:xfrm>
          <a:prstGeom prst="roundRect">
            <a:avLst>
              <a:gd name="adj" fmla="val 2051"/>
            </a:avLst>
          </a:prstGeom>
          <a:solidFill>
            <a:srgbClr val="161B22"/>
          </a:solidFill>
          <a:ln/>
        </p:spPr>
      </p:sp>
      <p:sp>
        <p:nvSpPr>
          <p:cNvPr id="10" name="Text 8"/>
          <p:cNvSpPr txBox="1"/>
          <p:nvPr/>
        </p:nvSpPr>
        <p:spPr>
          <a:xfrm>
            <a:off x="8046720" y="1783080"/>
            <a:ext cx="3566160" cy="960120"/>
          </a:xfrm>
          <a:prstGeom prst="rect">
            <a:avLst/>
          </a:prstGeom>
          <a:noFill/>
          <a:ln/>
        </p:spPr>
        <p:txBody>
          <a:bodyPr wrap="square" lIns="0" tIns="0" rIns="0" bIns="0" rtlCol="0" anchor="ctr"/>
          <a:lstStyle/>
          <a:p>
            <a:pPr algn="ctr" indent="0" marL="0">
              <a:buNone/>
            </a:pPr>
            <a:r>
              <a:rPr lang="en-US" sz="3200" b="1" dirty="0">
                <a:solidFill>
                  <a:srgbClr val="F0A500"/>
                </a:solidFill>
                <a:latin typeface="Courier New" pitchFamily="34" charset="0"/>
                <a:ea typeface="Courier New" pitchFamily="34" charset="-122"/>
                <a:cs typeface="Courier New" pitchFamily="34" charset="-120"/>
              </a:rPr>
              <a:t>RQ4</a:t>
            </a:r>
            <a:endParaRPr lang="en-US" sz="3200" dirty="0"/>
          </a:p>
        </p:txBody>
      </p:sp>
      <p:sp>
        <p:nvSpPr>
          <p:cNvPr id="11" name="Text 9"/>
          <p:cNvSpPr txBox="1"/>
          <p:nvPr/>
        </p:nvSpPr>
        <p:spPr>
          <a:xfrm>
            <a:off x="832104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First controlled evidence on narrowing the CLI/GUI fluency gap</a:t>
            </a:r>
            <a:endParaRPr lang="en-US" sz="1700" dirty="0"/>
          </a:p>
        </p:txBody>
      </p:sp>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What's Next</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Submit the ethics application</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Finish the interface build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Run the study with real participants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Return with results, not just a plan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Questions</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2200" dirty="0">
                <a:solidFill>
                  <a:schemeClr val="bg1"/>
                </a:solidFill>
                <a:latin typeface="Calibri" pitchFamily="34" charset="0"/>
                <a:ea typeface="Calibri" pitchFamily="34" charset="-122"/>
                <a:cs typeface="Calibri" pitchFamily="34" charset="-120"/>
              </a:rPr>
              <a:t>Thank you.</a:t>
            </a:r>
            <a:endParaRPr lang="en-US" sz="2200" dirty="0"/>
          </a:p>
        </p:txBody>
      </p:sp>
    </p:spTree>
  </p:cSld>
  <p:clrMapOvr>
    <a:masterClrMapping/>
  </p:clrMapOvr>
</p:sld>
</file>

<file path=ppt/theme/theme1.xml><?xml version="1.0" encoding="utf-8"?>
<a:theme xmlns:a="http://schemas.openxmlformats.org/drawingml/2006/main" name="SynapseOS Terminal">
  <a:themeElements>
    <a:clrScheme name="SynapseOS Terminal">
      <a:dk1>
        <a:srgbClr val="0D1117"/>
      </a:dk1>
      <a:lt1>
        <a:srgbClr val="C9D1D9"/>
      </a:lt1>
      <a:dk2>
        <a:srgbClr val="161B22"/>
      </a:dk2>
      <a:lt2>
        <a:srgbClr val="8B949E"/>
      </a:lt2>
      <a:accent1>
        <a:srgbClr val="3FB950"/>
      </a:accent1>
      <a:accent2>
        <a:srgbClr val="F0A500"/>
      </a:accent2>
      <a:accent3>
        <a:srgbClr val="58A6FF"/>
      </a:accent3>
      <a:accent4>
        <a:srgbClr val="F85149"/>
      </a:accent4>
      <a:accent5>
        <a:srgbClr val="8B949E"/>
      </a:accent5>
      <a:accent6>
        <a:srgbClr val="C9D1D9"/>
      </a:accent6>
      <a:hlink>
        <a:srgbClr val="58A6FF"/>
      </a:hlink>
      <a:folHlink>
        <a:srgbClr val="8B949E"/>
      </a:folHlink>
    </a:clrScheme>
    <a:fontScheme name="SynapseOS Terminal">
      <a:majorFont>
        <a:latin typeface="Courier Ne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SynapseOS Thesis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2026-10-07T12:33:18Z</dcterms:created>
  <dcterms:modified xsi:type="dcterms:W3CDTF">2026-10-07T12:33:18Z</dcterms:modified>
</cp:coreProperties>
</file>