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C9D1D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C9D1D9"/>
                </a:solidFill>
                <a:latin typeface="+mn-lt"/>
              </a:rPr>
              <a:t>Lower is better — held-out corpus, 777 commands (round 7)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Silent data loss (%)</c:v>
                </c:pt>
              </c:strCache>
            </c:strRef>
          </c:tx>
          <c:spPr>
            <a:solidFill>
              <a:srgbClr val="F8514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C9D1D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851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FB95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FB9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Pattern list</c:v>
                  </c:pt>
                  <c:pt idx="1">
                    <c:v>Fail-closed list</c:v>
                  </c:pt>
                  <c:pt idx="2">
                    <c:v>Algorithm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41.2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C9D1D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8B949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12700" cap="flat">
              <a:solidFill>
                <a:srgbClr val="161B2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8B949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C9D1D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C9D1D9"/>
                </a:solidFill>
                <a:latin typeface="+mn-lt"/>
              </a:rPr>
              <a:t>Higher is better — of the 325 executable losses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Restoration coverage (%)</c:v>
                </c:pt>
              </c:strCache>
            </c:strRef>
          </c:tx>
          <c:spPr>
            <a:solidFill>
              <a:srgbClr val="8B949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C9D1D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49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49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FB9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Pattern list</c:v>
                  </c:pt>
                  <c:pt idx="1">
                    <c:v>Fail-closed list</c:v>
                  </c:pt>
                  <c:pt idx="2">
                    <c:v>Algorithm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41.5</c:v>
                </c:pt>
                <c:pt idx="1">
                  <c:v>0</c:v>
                </c:pt>
                <c:pt idx="2">
                  <c:v>89.5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C9D1D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8B949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161B2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8B949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proposal defense for SynapseOS, Chapters 1 through 3 — the research plan, not final results, since the user study hasn't run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has built and evaluated a conversational layer over the full Linux desktop session — that's the gap we're targeting.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 from Chapter 1 — the frame for everything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RQ1 moved to the front after an earlier adviser review asked whether any contribution would survive without the interface — objectives mirror these four one-to-one.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SynapseOS instantiates this pipeline directly, and the recoverability algorithm lives at the Action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for a real recorded exchange — this already runs today, on real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pattern list judges a command by its name, not its effect — the naive safe fix is safe but useless.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abilities only, deliberately narrow — anything the analysis doesn't model is unknown and fails closed.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independent contributions, reported separately because they're established separately — no participants for RQ1, 40 for RQ2 through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pattern list silently loses data 41% of the time; the fail-closed list and our algorithm are both exactly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algorithm restores 89.5% of executable losses; the fail-closed list restores none, by construction — it only ever asks, never captures.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Within-subjects against each participant's own OS — the gap between fluent-in-neither and fluent-in-both participants is the primary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adviser's own written feedback said, verbatim, to manage scope carefully — this is our answer, in writing, not just a verbal reassurance.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Ethics is the real bottleneck — instruments are drafted, but the application itself hasn't been submitted yet, so it's being prioritized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We're naming this ourselves rather than having it asked cold — we have a concrete plan to turn the prose answer into a measured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Either contribution stands on its own if the other slips — that independence was a deliberate scope decision, not an accident.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floor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94560"/>
            <a:ext cx="105156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105156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63040"/>
            <a:ext cx="11064240" cy="4983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4" name="Text 0"/>
          <p:cNvSpPr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SynapseOS — Thesis 1 Proposal Defense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SynapseOS — Thesis 1 Proposal Defense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9456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SynapseOS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Conversational Interface Layer for Personal Computing
</a:t>
            </a:r>
            <a:endParaRPr lang="en-US" sz="22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1 Proposal Defense — Chapters 1–3
</a:t>
            </a:r>
            <a:endParaRPr lang="en-US" sz="22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Alexandra Sulit · Willard Soriano · Steven Evian Lozano
</a:t>
            </a:r>
            <a:endParaRPr lang="en-US" sz="22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Science, Mapúa University – Makati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Gap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63040"/>
            <a:ext cx="11064240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600"/>
              </a:spcAft>
              <a:buSzPct val="100000"/>
              <a:buChar char="▸"/>
            </a:pPr>
            <a:r>
              <a:rPr 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any operation a computer supports can be expressed on the command line — but only by someone who can write it</a:t>
            </a:r>
            <a:endParaRPr lang="en-US" sz="1900" dirty="0"/>
          </a:p>
          <a:p>
            <a:pPr algn="l" marL="342900" indent="-342900">
              <a:spcAft>
                <a:spcPts val="1600"/>
              </a:spcAft>
              <a:buSzPct val="100000"/>
              <a:buChar char="▸"/>
            </a:pPr>
            <a:r>
              <a:rPr 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else is limited to what a graphical desktop's designers anticipated</a:t>
            </a:r>
            <a:endParaRPr lang="en-US" sz="1900" dirty="0"/>
          </a:p>
          <a:p>
            <a:pPr algn="l" marL="342900" indent="-342900">
              <a:spcAft>
                <a:spcPts val="1600"/>
              </a:spcAft>
              <a:buSzPct val="100000"/>
              <a:buChar char="▸"/>
            </a:pPr>
            <a:r>
              <a:rPr 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have reopened a decades-old research thread (Berkeley UNIX Consultant, 1988) with far greater capability</a:t>
            </a:r>
            <a:endParaRPr lang="en-US" sz="1900" dirty="0"/>
          </a:p>
          <a:p>
            <a:pPr algn="l" marL="342900" indent="-342900">
              <a:spcAft>
                <a:spcPts val="1600"/>
              </a:spcAft>
              <a:buSzPct val="100000"/>
              <a:buChar char="▸"/>
            </a:pPr>
            <a:r>
              <a:rPr 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 implemented, evaluated system places a conversational layer over the whole Linux desktop session — existing work covers only the shell, or only individual applications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914400" y="2011680"/>
            <a:ext cx="10332720" cy="256032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80160" y="2286000"/>
            <a:ext cx="9601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capability of a personal computer is unevenly reachable. This study addresses the absence of a conversational interface layer — one that accepts intent in ordinary language and carries it out through the standard system toolchain — that has been empirically evaluated against the conventional graphical workflow, specifically for whether it changes what people of differing technical fluency can accomplish.</a:t>
            </a:r>
            <a:endParaRPr lang="en-US" sz="19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1463040"/>
            <a:ext cx="11064240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Questions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63040"/>
            <a:ext cx="11064240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600"/>
              </a:spcAft>
              <a:buSzPct val="100000"/>
              <a:buChar char="▸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— Can we find what a generated command will do before it runs, and capture enough to undo it — losing less data and asking less often than a pattern list?</a:t>
            </a:r>
            <a:endParaRPr lang="en-US" sz="1900" dirty="0"/>
          </a:p>
          <a:p>
            <a:pPr algn="l" marL="342900" indent="-342900">
              <a:spcAft>
                <a:spcPts val="1600"/>
              </a:spcAft>
              <a:buSzPct val="100000"/>
              <a:buChar char="▸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 — How do we let someone direct a whole Linux desktop in ordinary language?</a:t>
            </a:r>
            <a:endParaRPr lang="en-US" sz="1900" dirty="0"/>
          </a:p>
          <a:p>
            <a:pPr algn="l" marL="342900" indent="-342900">
              <a:spcAft>
                <a:spcPts val="1600"/>
              </a:spcAft>
              <a:buSzPct val="100000"/>
              <a:buChar char="▸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 — What confirmation and recovery design lets a user undo a mistake, including one they approved themselves?</a:t>
            </a:r>
            <a:endParaRPr lang="en-US" sz="1900" dirty="0"/>
          </a:p>
          <a:p>
            <a:pPr algn="l" marL="342900" indent="-342900">
              <a:spcAft>
                <a:spcPts val="1600"/>
              </a:spcAft>
              <a:buSzPct val="100000"/>
              <a:buChar char="▸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RQ4 — Does this narrow the gap for people fluent in neither the command line nor the GUI?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71500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57150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leads on purpose </a:t>
            </a:r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algorithm and the interface are two independent contributions, not one subordinate to the other.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Conceptual Framework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four-layer pipeline, common to every language-mediated computing interface surveyed in Chapter 2: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42316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4414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953512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arrives as text (or speech/gesture)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2331720"/>
            <a:ext cx="502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▸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566160" y="2331720"/>
            <a:ext cx="242316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66160" y="24414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REASONING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675888" y="2953512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Locally-hosted small language model parses intent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2331720"/>
            <a:ext cx="502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▸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492240" y="2331720"/>
            <a:ext cx="242316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9050">
            <a:solidFill>
              <a:srgbClr val="F0A5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24414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0A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601968" y="2953512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Translated into shell commands via the standard toolchain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15400" y="2331720"/>
            <a:ext cx="502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▸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418320" y="2331720"/>
            <a:ext cx="242316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418320" y="24414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 INTEGRATION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528048" y="2953512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 the full graphical session, not one app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8006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SynapseOS instantiates this pipeline directly — the recoverability algorithm (RQ1) is the part of the Action layer that decides what's safe to run without asking.</a:t>
            </a:r>
            <a:endParaRPr lang="en-US" sz="1600" dirty="0"/>
          </a:p>
        </p:txBody>
      </p:sp>
      <p:sp>
        <p:nvSpPr>
          <p:cNvPr id="21" name="Text 0"/>
          <p:cNvSpPr/>
          <p:nvPr>
            <p:ph idx="101" type="body" hasCustomPrompt="1"/>
          </p:nvPr>
        </p:nvSpPr>
        <p:spPr>
          <a:xfrm>
            <a:off x="548640" y="1463040"/>
            <a:ext cx="11064240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Looks Like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188720" y="1600200"/>
            <a:ext cx="9784080" cy="4572000"/>
          </a:xfrm>
          <a:prstGeom prst="roundRect">
            <a:avLst>
              <a:gd name="adj" fmla="val 1600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dash"/>
          </a:ln>
          <a:effectLst>
            <a:outerShdw sx="100000" sy="100000" kx="0" ky="0" algn="bl" rotWithShape="0" blurRad="76200" dist="38100" dir="5400000">
              <a:srgbClr val="000000">
                <a:alpha val="4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89888" y="1783080"/>
            <a:ext cx="128016" cy="128016"/>
          </a:xfrm>
          <a:prstGeom prst="ellipse">
            <a:avLst/>
          </a:prstGeom>
          <a:solidFill>
            <a:srgbClr val="F85149"/>
          </a:solidFill>
          <a:ln/>
        </p:spPr>
      </p:sp>
      <p:sp>
        <p:nvSpPr>
          <p:cNvPr id="5" name="Shape 3"/>
          <p:cNvSpPr/>
          <p:nvPr/>
        </p:nvSpPr>
        <p:spPr>
          <a:xfrm>
            <a:off x="1627632" y="1783080"/>
            <a:ext cx="128016" cy="128016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6" name="Shape 4"/>
          <p:cNvSpPr/>
          <p:nvPr/>
        </p:nvSpPr>
        <p:spPr>
          <a:xfrm>
            <a:off x="1865376" y="1783080"/>
            <a:ext cx="128016" cy="128016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4480" y="2148840"/>
            <a:ext cx="90525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placeholder — terminal capture: a natural-language request,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generated command, the confirmation gate, and the result ]</a:t>
            </a:r>
            <a:endParaRPr lang="en-US" sz="16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1463040"/>
            <a:ext cx="11064240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Algorithm (RQ1) — The Problem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63040"/>
            <a:ext cx="11064240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600"/>
              </a:spcAft>
              <a:buSzPct val="100000"/>
              <a:buChar char="▸"/>
            </a:pPr>
            <a:r>
              <a:rPr 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generated command can destroy data before its author ever reads it</a:t>
            </a:r>
            <a:endParaRPr lang="en-US" sz="1900" dirty="0"/>
          </a:p>
          <a:p>
            <a:pPr algn="l" marL="342900" indent="-342900">
              <a:spcAft>
                <a:spcPts val="1600"/>
              </a:spcAft>
              <a:buSzPct val="100000"/>
              <a:buChar char="▸"/>
            </a:pPr>
            <a:r>
              <a:rPr 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safeguards (an enumerated pattern list) judge a command by its name — not by what it actually does</a:t>
            </a:r>
            <a:endParaRPr lang="en-US" sz="1900" dirty="0"/>
          </a:p>
          <a:p>
            <a:pPr algn="l" marL="342900" indent="-342900">
              <a:spcAft>
                <a:spcPts val="1600"/>
              </a:spcAft>
              <a:buSzPct val="100000"/>
              <a:buChar char="▸"/>
            </a:pPr>
            <a:r>
              <a:rPr 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either lets unfamiliar commands run (unsafe), or refuses everything it doesn't recognize (safe, but protects nothing and asks constantly)</a:t>
            </a:r>
            <a:endParaRPr lang="en-US" sz="1900" dirty="0"/>
          </a:p>
          <a:p>
            <a:pPr algn="l" marL="342900" indent="-342900">
              <a:spcAft>
                <a:spcPts val="1600"/>
              </a:spcAft>
              <a:buSzPct val="100000"/>
              <a:buChar char="▸"/>
            </a:pPr>
            <a:r>
              <a:rPr 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a third option: understand the command well enough to know what it will change, before it runs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Algorithm (RQ1) — What It Claims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2514600"/>
          </a:xfrm>
          <a:prstGeom prst="roundRect">
            <a:avLst>
              <a:gd name="adj" fmla="val 2909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 through wrappers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892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through find -exec, xargs, loops, command/process substitution, pipelines, redirects, sh -c, sudo and its relatives — earlier parts of a line are visible to later ones.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72200" y="1463040"/>
            <a:ext cx="5349240" cy="2514600"/>
          </a:xfrm>
          <a:prstGeom prst="roundRect">
            <a:avLst>
              <a:gd name="adj" fmla="val 2909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64592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Resolution of run-time targets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194560"/>
            <a:ext cx="4892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target is computed while the command runs (rm $(ls *.log), find -delete, xargs rm), a read-only dry run learns the concrete targets — so a capture plan can be built before anything executes.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10972800" cy="777240"/>
          </a:xfrm>
          <a:prstGeom prst="roundRect">
            <a:avLst>
              <a:gd name="adj" fmla="val 7059"/>
            </a:avLst>
          </a:prstGeom>
          <a:solidFill>
            <a:srgbClr val="161B22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41605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narrow: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command the analysis doesn't model is unknown — and unknown fails closed. It asks, and captures nothing. No broader claim is made.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5074920"/>
            <a:ext cx="10972800" cy="1325880"/>
          </a:xfrm>
          <a:prstGeom prst="roundRect">
            <a:avLst>
              <a:gd name="adj" fmla="val 5517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dash"/>
          </a:ln>
          <a:effectLst>
            <a:outerShdw sx="100000" sy="100000" kx="0" ky="0" algn="bl" rotWithShape="0" blurRad="76200" dist="38100" dir="54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49808" y="5257800"/>
            <a:ext cx="128016" cy="128016"/>
          </a:xfrm>
          <a:prstGeom prst="ellipse">
            <a:avLst/>
          </a:prstGeom>
          <a:solidFill>
            <a:srgbClr val="F85149"/>
          </a:solidFill>
          <a:ln/>
        </p:spPr>
      </p:sp>
      <p:sp>
        <p:nvSpPr>
          <p:cNvPr id="13" name="Shape 11"/>
          <p:cNvSpPr/>
          <p:nvPr/>
        </p:nvSpPr>
        <p:spPr>
          <a:xfrm>
            <a:off x="987552" y="5257800"/>
            <a:ext cx="128016" cy="128016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14" name="Shape 12"/>
          <p:cNvSpPr/>
          <p:nvPr/>
        </p:nvSpPr>
        <p:spPr>
          <a:xfrm>
            <a:off x="1225296" y="5257800"/>
            <a:ext cx="128016" cy="128016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562356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placeholder — terminal capture: the safety gate catching a destructive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 and asking for confirmation before it runs ]</a:t>
            </a:r>
            <a:endParaRPr lang="en-US" sz="1600" dirty="0"/>
          </a:p>
        </p:txBody>
      </p:sp>
      <p:sp>
        <p:nvSpPr>
          <p:cNvPr id="17" name="Text 0"/>
          <p:cNvSpPr/>
          <p:nvPr>
            <p:ph idx="101" type="body" hasCustomPrompt="1"/>
          </p:nvPr>
        </p:nvSpPr>
        <p:spPr>
          <a:xfrm>
            <a:off x="548640" y="1463040"/>
            <a:ext cx="11064240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Evaluation Design — Two Independent Studies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8308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Algorithm study (RQ1)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600" dirty="0">
                <a:solidFill>
                  <a:schemeClr val="bg1"/>
                </a:solidFill>
              </a:rPr>
              <a:t>Corpus-based — no participants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600" dirty="0">
                <a:solidFill>
                  <a:schemeClr val="bg1"/>
                </a:solidFill>
              </a:rPr>
              <a:t>Held-out set of generated commands, ground truth from sandboxed execution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600" dirty="0">
                <a:solidFill>
                  <a:schemeClr val="bg1"/>
                </a:solidFill>
              </a:rPr>
              <a:t>Three baselines compared: pattern list, fail-closed list, the algorithm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600" dirty="0">
                <a:solidFill>
                  <a:schemeClr val="bg1"/>
                </a:solidFill>
              </a:rPr>
              <a:t>Answers RQ1 on its own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17220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78308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study (RQ2–4)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37744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600" dirty="0">
                <a:solidFill>
                  <a:schemeClr val="bg1"/>
                </a:solidFill>
              </a:rPr>
              <a:t>40 participants, within-subjects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600" dirty="0">
                <a:solidFill>
                  <a:schemeClr val="bg1"/>
                </a:solidFill>
              </a:rPr>
              <a:t>Each person vs. their own daily OS (expert baseline)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600" dirty="0">
                <a:solidFill>
                  <a:schemeClr val="bg1"/>
                </a:solidFill>
              </a:rPr>
              <a:t>Task suite: OSWorld + custom cross-platform tasks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600" dirty="0">
                <a:solidFill>
                  <a:schemeClr val="bg1"/>
                </a:solidFill>
              </a:rPr>
              <a:t>Waits on IRB / ethics approval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548640" y="1463040"/>
            <a:ext cx="11064240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Algorithm Result — Silent Data Loss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2194560" y="1554480"/>
          <a:ext cx="77724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405 commands that touch something outside the filesystem or lose data.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Algorithm Result — Restoration Coverage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2194560" y="1554480"/>
          <a:ext cx="77724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Single-annotator corpus, one held-out round — a second annotator and a larger sample are still open (open-problems.md, row 27).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Evaluation Plan (RQ2–4)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63040"/>
            <a:ext cx="11064240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600"/>
              </a:spcAft>
              <a:buSzPct val="100000"/>
              <a:buChar char="▸"/>
            </a:pPr>
            <a:r>
              <a:rPr 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Within-subjects: each of 40 participants against their own primary OS (Windows, macOS, or Linux)</a:t>
            </a:r>
            <a:endParaRPr lang="en-US" sz="1900" dirty="0"/>
          </a:p>
          <a:p>
            <a:pPr algn="l" marL="342900" indent="-342900">
              <a:spcAft>
                <a:spcPts val="1600"/>
              </a:spcAft>
              <a:buSzPct val="100000"/>
              <a:buChar char="▸"/>
            </a:pPr>
            <a:r>
              <a:rPr 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populations: fluent in neither interface, and fluent in both — the gap between them is the primary outcome</a:t>
            </a:r>
            <a:endParaRPr lang="en-US" sz="1900" dirty="0"/>
          </a:p>
          <a:p>
            <a:pPr algn="l" marL="342900" indent="-342900">
              <a:spcAft>
                <a:spcPts val="1600"/>
              </a:spcAft>
              <a:buSzPct val="100000"/>
              <a:buChar char="▸"/>
            </a:pPr>
            <a:r>
              <a:rPr 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Tasks: OSWorld benchmark + a custom cross-platform suite (file search, system monitoring, package management, text/data processing)</a:t>
            </a:r>
            <a:endParaRPr lang="en-US" sz="1900" dirty="0"/>
          </a:p>
          <a:p>
            <a:pPr algn="l" marL="342900" indent="-342900">
              <a:spcAft>
                <a:spcPts val="1600"/>
              </a:spcAft>
              <a:buSzPct val="100000"/>
              <a:buChar char="▸"/>
            </a:pPr>
            <a:r>
              <a:rPr 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Measures: completion time, error rate, SUS, NASA-TLX, plus a semi-structured interview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 &amp; Sequencing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64240" cy="1920240"/>
          </a:xfrm>
          <a:prstGeom prst="roundRect">
            <a:avLst>
              <a:gd name="adj" fmla="val 3810"/>
            </a:avLst>
          </a:prstGeom>
          <a:solidFill>
            <a:srgbClr val="161B22"/>
          </a:solidFill>
          <a:ln w="15240">
            <a:solidFill>
              <a:srgbClr val="F0A5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Responding directly to “manage scope carefully”:
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and the GUI-mode session launch are the mandatory deliverable. Model fine-tuning and the full comparative study are real and still planned, but the first things to shrink if time runs out.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49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reorder of priority — not of ambition — is our written answer to the adviser's own scope concern from an earlier review.</a:t>
            </a:r>
            <a:endParaRPr lang="en-US" sz="16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1463040"/>
            <a:ext cx="11064240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Status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231136"/>
            <a:ext cx="237744" cy="23774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18745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Algorithm (RQ1)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852160" y="187452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Essentially done — round 7 reported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3602736"/>
            <a:ext cx="237744" cy="237744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80160" y="3246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— runtime &amp; GUI session launch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324612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448056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161B22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680" y="4974336"/>
            <a:ext cx="237744" cy="237744"/>
          </a:xfrm>
          <a:prstGeom prst="ellipse">
            <a:avLst/>
          </a:prstGeom>
          <a:solidFill>
            <a:srgbClr val="F8514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80160" y="46177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Ethics / IRB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461772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Instruments drafted; application not yet submitted</a:t>
            </a:r>
            <a:endParaRPr lang="en-US" sz="17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548640" y="1463040"/>
            <a:ext cx="11064240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Question We Want to Raise Ourselves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1051560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6510">
            <a:solidFill>
              <a:srgbClr val="F0A5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88720" y="169164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“How much of this result comes from the algorithm itself, versus the hand-built rule tables underneath it?”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337560"/>
            <a:ext cx="10515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600"/>
              </a:spcAft>
              <a:buSzPct val="100000"/>
              <a:buChar char="▸"/>
            </a:pPr>
            <a:r>
              <a:rPr lang="en-US" sz="1700" dirty="0">
                <a:solidFill>
                  <a:schemeClr val="bg1"/>
                </a:solidFill>
              </a:rPr>
              <a:t>This is a question our adviser already asked, in an earlier review</a:t>
            </a:r>
            <a:endParaRPr lang="en-US" sz="1700" dirty="0"/>
          </a:p>
          <a:p>
            <a:pPr marL="342900" indent="-342900">
              <a:spcAft>
                <a:spcPts val="1600"/>
              </a:spcAft>
              <a:buSzPct val="100000"/>
              <a:buChar char="▸"/>
            </a:pPr>
            <a:r>
              <a:rPr lang="en-US" sz="1700" dirty="0">
                <a:solidFill>
                  <a:schemeClr val="bg1"/>
                </a:solidFill>
              </a:rPr>
              <a:t>Current answer: a prose argument — the rule table is itself a list; composition and target resolution are what's built on top of it</a:t>
            </a:r>
            <a:endParaRPr lang="en-US" sz="1700" dirty="0"/>
          </a:p>
          <a:p>
            <a:pPr marL="342900" indent="-342900">
              <a:spcAft>
                <a:spcPts val="1600"/>
              </a:spcAft>
              <a:buSzPct val="100000"/>
              <a:buChar char="▸"/>
            </a:pPr>
            <a:r>
              <a:rPr lang="en-US" sz="1700" dirty="0">
                <a:solidFill>
                  <a:schemeClr val="bg1"/>
                </a:solidFill>
              </a:rPr>
              <a:t>Not yet a number — no ablation has isolated the rule table's own contribution</a:t>
            </a:r>
            <a:endParaRPr lang="en-US" sz="1700" dirty="0"/>
          </a:p>
          <a:p>
            <a:pPr marL="342900" indent="-342900">
              <a:spcAft>
                <a:spcPts val="1600"/>
              </a:spcAft>
              <a:buSzPct val="100000"/>
              <a:buChar char="▸"/>
            </a:pPr>
            <a:r>
              <a:rPr lang="en-US" sz="1700" dirty="0">
                <a:solidFill>
                  <a:schemeClr val="bg1"/>
                </a:solidFill>
              </a:rPr>
              <a:t>Plan to close it: an analyzer flag that routes composition/wrapper handling to “opaque”, run as a fourth comparison column against the same corpus</a:t>
            </a:r>
            <a:endParaRPr lang="en-US" sz="17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1463040"/>
            <a:ext cx="11064240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 Contribution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66160" cy="4023360"/>
          </a:xfrm>
          <a:prstGeom prst="roundRect">
            <a:avLst>
              <a:gd name="adj" fmla="val 2051"/>
            </a:avLst>
          </a:prstGeom>
          <a:solidFill>
            <a:srgbClr val="161B2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8308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RQ1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8892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composition- and resolution-aware recoverability algorithm, evaluated against two baselines on a held-out corpus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600200"/>
            <a:ext cx="3566160" cy="4023360"/>
          </a:xfrm>
          <a:prstGeom prst="roundRect">
            <a:avLst>
              <a:gd name="adj" fmla="val 2051"/>
            </a:avLst>
          </a:prstGeom>
          <a:solidFill>
            <a:srgbClr val="161B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297680" y="178308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RQ2-3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78892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conversational interface layer with a reversibility-based confirmation gate and undo, over an unchanged Linux desktop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600200"/>
            <a:ext cx="3566160" cy="4023360"/>
          </a:xfrm>
          <a:prstGeom prst="roundRect">
            <a:avLst>
              <a:gd name="adj" fmla="val 2051"/>
            </a:avLst>
          </a:prstGeom>
          <a:solidFill>
            <a:srgbClr val="161B2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046720" y="178308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0A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RQ4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78892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controlled evidence for whether conversation narrows the fluency gap between CLI and GUI users</a:t>
            </a:r>
            <a:endParaRPr lang="en-US" sz="16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548640" y="1463040"/>
            <a:ext cx="11064240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9456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ynapseOS Terminal">
  <a:themeElements>
    <a:clrScheme name="SynapseOS Terminal">
      <a:dk1>
        <a:srgbClr val="0D1117"/>
      </a:dk1>
      <a:lt1>
        <a:srgbClr val="C9D1D9"/>
      </a:lt1>
      <a:dk2>
        <a:srgbClr val="161B22"/>
      </a:dk2>
      <a:lt2>
        <a:srgbClr val="8B949E"/>
      </a:lt2>
      <a:accent1>
        <a:srgbClr val="3FB950"/>
      </a:accent1>
      <a:accent2>
        <a:srgbClr val="F0A500"/>
      </a:accent2>
      <a:accent3>
        <a:srgbClr val="58A6FF"/>
      </a:accent3>
      <a:accent4>
        <a:srgbClr val="F85149"/>
      </a:accent4>
      <a:accent5>
        <a:srgbClr val="8B949E"/>
      </a:accent5>
      <a:accent6>
        <a:srgbClr val="C9D1D9"/>
      </a:accent6>
      <a:hlink>
        <a:srgbClr val="58A6FF"/>
      </a:hlink>
      <a:folHlink>
        <a:srgbClr val="8B949E"/>
      </a:folHlink>
    </a:clrScheme>
    <a:fontScheme name="SynapseOS Terminal">
      <a:majorFont>
        <a:latin typeface="Courier New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SynapseOS Thesis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2026-10-07T10:02:23Z</dcterms:created>
  <dcterms:modified xsi:type="dcterms:W3CDTF">2026-10-07T10:02:23Z</dcterms:modified>
</cp:coreProperties>
</file>